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44eaf11b3d4ec5" /><Relationship Type="http://schemas.openxmlformats.org/officeDocument/2006/relationships/extended-properties" Target="/docProps/app.xml" Id="R7a7af792f813478d" /><Relationship Type="http://schemas.openxmlformats.org/officeDocument/2006/relationships/officeDocument" Target="/ppt/presentation.xml" Id="R5a434058c1fc4dde" /></Relationships>
</file>

<file path=ppt/presentation.xml><?xml version="1.0" encoding="utf-8"?>
<p:presentation xmlns:p="http://schemas.openxmlformats.org/presentationml/2006/main">
  <p:sldMasterIdLst>
    <p:sldMasterId xmlns:r="http://schemas.openxmlformats.org/officeDocument/2006/relationships" id="2147483648" r:id="R6d14fde65bb64e66"/>
  </p:sldMasterIdLst>
  <p:notesMasterIdLst>
    <p:notesMasterId xmlns:r="http://schemas.openxmlformats.org/officeDocument/2006/relationships" r:id="R226b05c8d9cc4b48"/>
  </p:notesMasterIdLst>
  <p:sldIdLst>
    <p:sldId xmlns:r="http://schemas.openxmlformats.org/officeDocument/2006/relationships" id="256" r:id="Rdbfa6e9745274ae8"/>
    <p:sldId xmlns:r="http://schemas.openxmlformats.org/officeDocument/2006/relationships" id="257" r:id="Rbbc61edd243d425e"/>
    <p:sldId xmlns:r="http://schemas.openxmlformats.org/officeDocument/2006/relationships" id="258" r:id="Ra770db8b1b6e4843"/>
    <p:sldId xmlns:r="http://schemas.openxmlformats.org/officeDocument/2006/relationships" id="259" r:id="R7b986da98d7a48f0"/>
    <p:sldId xmlns:r="http://schemas.openxmlformats.org/officeDocument/2006/relationships" id="260" r:id="Rbb0a40c3d99e4684"/>
    <p:sldId xmlns:r="http://schemas.openxmlformats.org/officeDocument/2006/relationships" id="261" r:id="Rf34f23821f66490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288749c83c4b1b" /><Relationship Type="http://schemas.openxmlformats.org/officeDocument/2006/relationships/slideMaster" Target="/ppt/slideMasters/slideMaster1.xml" Id="R6d14fde65bb64e66" /><Relationship Type="http://schemas.openxmlformats.org/officeDocument/2006/relationships/notesMaster" Target="/ppt/notesMasters/notesMaster1.xml" Id="R226b05c8d9cc4b48" /><Relationship Type="http://schemas.openxmlformats.org/officeDocument/2006/relationships/presProps" Target="/ppt/presProps.xml" Id="R8863700b6c544b64" /><Relationship Type="http://schemas.openxmlformats.org/officeDocument/2006/relationships/tableStyles" Target="/ppt/tableStyles.xml" Id="Rf35a4cf4a08648f4" /><Relationship Type="http://schemas.openxmlformats.org/officeDocument/2006/relationships/slide" Target="/ppt/slides/slide1.xml" Id="Rdbfa6e9745274ae8" /><Relationship Type="http://schemas.openxmlformats.org/officeDocument/2006/relationships/slide" Target="/ppt/slides/slide2.xml" Id="Rbbc61edd243d425e" /><Relationship Type="http://schemas.openxmlformats.org/officeDocument/2006/relationships/slide" Target="/ppt/slides/slide3.xml" Id="Ra770db8b1b6e4843" /><Relationship Type="http://schemas.openxmlformats.org/officeDocument/2006/relationships/slide" Target="/ppt/slides/slide4.xml" Id="R7b986da98d7a48f0" /><Relationship Type="http://schemas.openxmlformats.org/officeDocument/2006/relationships/slide" Target="/ppt/slides/slide5.xml" Id="Rbb0a40c3d99e4684" /><Relationship Type="http://schemas.openxmlformats.org/officeDocument/2006/relationships/slide" Target="/ppt/slides/slide6.xml" Id="Rf34f23821f6649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6d0e6f8c044e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8bba6dc6734363" /><Relationship Type="http://schemas.openxmlformats.org/officeDocument/2006/relationships/notesMaster" Target="/ppt/notesMasters/notesMaster1.xml" Id="Red9d5902da7c4d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73106512d24c99" /><Relationship Type="http://schemas.openxmlformats.org/officeDocument/2006/relationships/notesMaster" Target="/ppt/notesMasters/notesMaster1.xml" Id="R6f4ba86dfb1d40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b742416f934baf" /><Relationship Type="http://schemas.openxmlformats.org/officeDocument/2006/relationships/notesMaster" Target="/ppt/notesMasters/notesMaster1.xml" Id="Rd98a3edbfaf648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2ac94d6b464632" /><Relationship Type="http://schemas.openxmlformats.org/officeDocument/2006/relationships/notesMaster" Target="/ppt/notesMasters/notesMaster1.xml" Id="Re54c903c3fc9424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23157acbb24ed0" /><Relationship Type="http://schemas.openxmlformats.org/officeDocument/2006/relationships/notesMaster" Target="/ppt/notesMasters/notesMaster1.xml" Id="R28f09d85038e4f5b"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3e3dc2f4ed42d9" /><Relationship Type="http://schemas.openxmlformats.org/officeDocument/2006/relationships/notesMaster" Target="/ppt/notesMasters/notesMaster1.xml" Id="R3319b135ac3543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 everyone. My project is PawPal Plus, an applied AI pet-care planning assistant. I started with my earlier Module 2 PawPal project, which stored pets and tasks and generated a daily schedule. For this final project, I kept that reliable scheduling foundation and added retrieval-augmented generation, Claude guidance, confidence scoring, guardrails, structured logging, and reliability tests. My goal was not just to add a chatbot. I wanted to build a complete AI system that I could explain and test.</a:t>
            </a:r>
          </a:p>
          <a:p xmlns:a="http://schemas.openxmlformats.org/drawingml/2006/main">
            <a:r>
              <a:t/>
            </a:r>
          </a:p>
          <a:p xmlns:a="http://schemas.openxmlformats.org/drawingml/2006/main">
            <a:r>
              <a:t>[Sources]</a:t>
            </a:r>
          </a:p>
          <a:p xmlns:a="http://schemas.openxmlformats.org/drawingml/2006/main">
            <a:r>
              <a:t>- PawPal+ project repository: https://github.com/hemalekamohanram/codepath-applied-ai-system-project</a:t>
            </a:r>
          </a:p>
          <a:p xmlns:a="http://schemas.openxmlformats.org/drawingml/2006/main">
            <a:r>
              <a:t>- Cover image: screenshot captured from the local PawPal Streamlit application on August 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Pet owners may need to manage walks, feeding, medication, grooming, play, and appointments, often with limited time. The first problem is deciding which tasks are most important and what actually fits into the day. A generic chatbot can give general pet-care advice, but it may ignore the user's real schedule or give unsupported medical guidance. PawPal solves this by separating the work. Predictable Python logic creates the schedule, and AI is used only to explain that specific plan with relevant pet-care information.</a:t>
            </a:r>
          </a:p>
          <a:p xmlns:a="http://schemas.openxmlformats.org/drawingml/2006/main">
            <a:r>
              <a:t/>
            </a:r>
          </a:p>
          <a:p xmlns:a="http://schemas.openxmlformats.org/drawingml/2006/main">
            <a:r>
              <a:t>[Sources]</a:t>
            </a:r>
          </a:p>
          <a:p xmlns:a="http://schemas.openxmlformats.org/drawingml/2006/main">
            <a:r>
              <a:t>- PawPal+ project repository: https://github.com/hemalekamohanram/codepath-applied-ai-system-project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PawPal uses a fixed RAG pipeline, not an agentic loop. First, the Python scheduler sorts tasks by priority and start time and creates a plan that fits within the available minutes. Second, the retriever searches a local pet-care knowledge base. It removes common stop words, filters out passages for the wrong species, ranks keyword matches, and calculates retrieval confidence. Third, PawPal sends the schedule, the question, and the retrieved passages to Claude Haiku 4.5. Claude explains the plan and cites the passage IDs. Before any of this, emergency language is checked. If the question may describe an emergency, PawPal skips Claude and directs the user to a veterinarian.</a:t>
            </a:r>
          </a:p>
          <a:p xmlns:a="http://schemas.openxmlformats.org/drawingml/2006/main">
            <a:r>
              <a:t/>
            </a:r>
          </a:p>
          <a:p xmlns:a="http://schemas.openxmlformats.org/drawingml/2006/main">
            <a:r>
              <a:t>[Sources]</a:t>
            </a:r>
          </a:p>
          <a:p xmlns:a="http://schemas.openxmlformats.org/drawingml/2006/main">
            <a:r>
              <a:t>- PawPal+ project repository: https://github.com/hemalekamohanram/codepath-applied-ai-system-project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did not want the system to only look like it worked, so I added multiple forms of evidence. The project has 48 passing Pytest cases covering scheduling, persistence, retrieval, model-call behavior, missing configuration, and guardrails. A separate evaluation harness runs seven predefined AI scenarios, and all seven passed. The live demo retrieved relevant sources and displayed 95 percent retrieval confidence. That percentage measures how strongly the question matched the retrieved documents; it is not medical certainty. The AI tests use a fake Claude client, so they are reproducible and do not spend API credits. GitHub Actions reruns the tests after every push.</a:t>
            </a:r>
          </a:p>
          <a:p xmlns:a="http://schemas.openxmlformats.org/drawingml/2006/main">
            <a:r>
              <a:t/>
            </a:r>
          </a:p>
          <a:p xmlns:a="http://schemas.openxmlformats.org/drawingml/2006/main">
            <a:r>
              <a:t>[Sources]</a:t>
            </a:r>
          </a:p>
          <a:p xmlns:a="http://schemas.openxmlformats.org/drawingml/2006/main">
            <a:r>
              <a:t>- PawPal+ project repository: https://github.com/hemalekamohanram/codepath-applied-ai-system-project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surprised me most was that the hardest problems appeared in retrieval, not in Claude's final wording. My first retriever gave a species match a bonus but did not fully exclude the wrong species, so a cat question could retrieve dog guidance. Later, the common word can caused a medication question to match an unrelated enrichment passage. The original tests still passed because their assertions were too weak. I fixed the species filtering, expanded the stop-word list, and wrote stronger regression tests. This taught me to inspect actual outputs instead of trusting only a green test total.</a:t>
            </a:r>
          </a:p>
          <a:p xmlns:a="http://schemas.openxmlformats.org/drawingml/2006/main">
            <a:r>
              <a:t/>
            </a:r>
          </a:p>
          <a:p xmlns:a="http://schemas.openxmlformats.org/drawingml/2006/main">
            <a:r>
              <a:t>[Sources]</a:t>
            </a:r>
          </a:p>
          <a:p xmlns:a="http://schemas.openxmlformats.org/drawingml/2006/main">
            <a:r>
              <a:t>- PawPal+ project repository: https://github.com/hemalekamohanram/codepath-applied-ai-system-project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PawPal taught me that useful AI is designed around its limits. I kept scheduling predictable, grounded Claude with visible sources, tested unsafe and failure paths, and documented where the system should not be trusted. PawPal is still a student planning assistant, not a veterinarian, but it demonstrates the engineering mindset I want to bring to future AI projects: build something useful, make its behavior visible, test it honestly, and improve it when the evidence reveals a flaw. Thank you.</a:t>
            </a:r>
          </a:p>
          <a:p xmlns:a="http://schemas.openxmlformats.org/drawingml/2006/main">
            <a:r>
              <a:t/>
            </a:r>
          </a:p>
          <a:p xmlns:a="http://schemas.openxmlformats.org/drawingml/2006/main">
            <a:r>
              <a:t>[Sources]</a:t>
            </a:r>
          </a:p>
          <a:p xmlns:a="http://schemas.openxmlformats.org/drawingml/2006/main">
            <a:r>
              <a:t>- PawPal+ project repository: https://github.com/hemalekamohanram/codepath-applied-ai-system-project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61c44cc0614e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980e61ecf34722" /><Relationship Type="http://schemas.openxmlformats.org/officeDocument/2006/relationships/slideLayout" Target="/ppt/slideLayouts/slideLayout1.xml" Id="R65b6cbd2b8244b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b6cbd2b8244b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4c793bd7a7f479c" /><Relationship Type="http://schemas.openxmlformats.org/officeDocument/2006/relationships/image" Target="/ppt/media/image.jpeg" Id="R05022be9e8da4d4d" /><Relationship Type="http://schemas.openxmlformats.org/officeDocument/2006/relationships/notesSlide" Target="/ppt/notesSlides/notesSlide1.xml" Id="Rb52070a3080944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b21c2768af5474a" /><Relationship Type="http://schemas.openxmlformats.org/officeDocument/2006/relationships/notesSlide" Target="/ppt/notesSlides/notesSlide2.xml" Id="Rf38acf4e183c4c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b4e1781cd844ba5" /><Relationship Type="http://schemas.openxmlformats.org/officeDocument/2006/relationships/notesSlide" Target="/ppt/notesSlides/notesSlide3.xml" Id="Rb1a51d0dc17745b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8c18131f9b446b3" /><Relationship Type="http://schemas.openxmlformats.org/officeDocument/2006/relationships/notesSlide" Target="/ppt/notesSlides/notesSlide4.xml" Id="R2d4194c20e5947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a4e8907ce9d40c7" /><Relationship Type="http://schemas.openxmlformats.org/officeDocument/2006/relationships/notesSlide" Target="/ppt/notesSlides/notesSlide5.xml" Id="Rf3aa13bde4ed4d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a7c1a2c96e14ce4" /><Relationship Type="http://schemas.openxmlformats.org/officeDocument/2006/relationships/notesSlide" Target="/ppt/notesSlides/notesSlide6.xml" Id="R7e9bfc78fda648e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7" name="Google-Shape-532-p58-2">
            <a:extLst xmlns:a="http://schemas.openxmlformats.org/drawingml/2006/main">
              <a:ext uri="{FF2B5EF4-FFF2-40B4-BE49-F238E27FC236}">
                <a16:creationId xmlns:a16="http://schemas.microsoft.com/office/drawing/2014/main" id="{54AC289E-AC5F-4B27-949C-0D6E4D74497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a:t>
            </a:r>
          </a:p>
        </p:txBody>
      </p:sp>
      <p:sp>
        <p:nvSpPr>
          <p:cNvPr id="2" name="Google-Shape-533-p58-3">
            <a:extLst xmlns:a="http://schemas.openxmlformats.org/drawingml/2006/main">
              <a:ext uri="{FF2B5EF4-FFF2-40B4-BE49-F238E27FC236}">
                <a16:creationId xmlns:a16="http://schemas.microsoft.com/office/drawing/2014/main" id="{9BC03E88-930D-4241-8F89-2CF9CDF2A2C5}"/>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900">
                <a:solidFill>
                  <a:srgbClr val="000000"/>
                </a:solidFill>
                <a:latin typeface="Helvetica Neue"/>
                <a:ea typeface="Helvetica Neue"/>
                <a:cs typeface="Helvetica Neue"/>
              </a:defRPr>
            </a:pPr>
            <a:r>
              <a:rPr sz="2900" b="1">
                <a:solidFill>
                  <a:srgbClr val="3D8DFF"/>
                </a:solidFill>
                <a:latin typeface="Arial"/>
                <a:ea typeface="Arial"/>
                <a:cs typeface="Arial"/>
              </a:rPr>
              <a:t>PAWPAL+</a:t>
            </a:r>
          </a:p>
        </p:txBody>
      </p:sp>
      <p:sp>
        <p:nvSpPr>
          <p:cNvPr id="3" name="Picture-3-4-backing">
            <a:extLst xmlns:a="http://schemas.openxmlformats.org/drawingml/2006/main">
              <a:ext uri="{FF2B5EF4-FFF2-40B4-BE49-F238E27FC236}">
                <a16:creationId xmlns:a16="http://schemas.microsoft.com/office/drawing/2014/main" id="{4836AFCB-C7C5-4A83-B974-C0F618B91033}"/>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5" name="Google-Shape-534-p58-5">
            <a:extLst xmlns:a="http://schemas.openxmlformats.org/drawingml/2006/main">
              <a:ext uri="{FF2B5EF4-FFF2-40B4-BE49-F238E27FC236}">
                <a16:creationId xmlns:a16="http://schemas.microsoft.com/office/drawing/2014/main" id="{8872253F-7E27-4716-A277-DB1F4C85480B}"/>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2400" b="1">
                <a:solidFill>
                  <a:srgbClr val="000000"/>
                </a:solidFill>
                <a:latin typeface="Arial"/>
                <a:ea typeface="Arial"/>
                <a:cs typeface="Arial"/>
              </a:rPr>
              <a:t>Applied AI that plans pet care—and knows when to stop.</a:t>
            </a:r>
          </a:p>
          <a:p xmlns:a="http://schemas.openxmlformats.org/drawingml/2006/main">
            <a:pPr algn="l">
              <a:lnSpc>
                <a:spcPct val="100000"/>
              </a:lnSpc>
              <a:buNone/>
              <a:defRPr sz="2400">
                <a:solidFill>
                  <a:srgbClr val="000000"/>
                </a:solidFill>
                <a:latin typeface="Helvetica Neue"/>
                <a:ea typeface="Helvetica Neue"/>
                <a:cs typeface="Helvetica Neue"/>
              </a:defRPr>
            </a:pPr>
            <a:r>
              <a:rPr sz="1800" b="0">
                <a:solidFill>
                  <a:srgbClr val="31343A"/>
                </a:solidFill>
                <a:latin typeface="Arial"/>
                <a:ea typeface="Arial"/>
                <a:cs typeface="Arial"/>
              </a:rPr>
              <a:t>RAG-grounded Claude guidance
Deterministic scheduling
Tested safety guardrails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5022be9e8da4d4d"/>
          <a:stretch xmlns:a="http://schemas.openxmlformats.org/drawingml/2006/main"/>
        </p:blipFill>
        <p:spPr>
          <a:xfrm xmlns:a="http://schemas.openxmlformats.org/drawingml/2006/main">
            <a:off x="6902721" y="396431"/>
            <a:ext cx="4272437" cy="5602034"/>
          </a:xfrm>
          <a:prstGeom xmlns:a="http://schemas.openxmlformats.org/drawingml/2006/main" prst="roundRect">
            <a:avLst>
              <a:gd name="adj" fmla="val 2063"/>
            </a:avLst>
          </a:prstGeom>
        </p:spPr>
      </p:pic>
    </p:spTree>
    <p:extLst>
      <p:ext uri="{BB962C8B-B14F-4D97-AF65-F5344CB8AC3E}">
        <p14:creationId xmlns:p14="http://schemas.microsoft.com/office/powerpoint/2010/main" val="156952282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Google-Shape-534-p58-1">
            <a:extLst xmlns:a="http://schemas.openxmlformats.org/drawingml/2006/main">
              <a:ext uri="{FF2B5EF4-FFF2-40B4-BE49-F238E27FC236}">
                <a16:creationId xmlns:a16="http://schemas.microsoft.com/office/drawing/2014/main" id="{44D0AA98-A64A-4FCF-904C-5E6E3F70FF81}"/>
              </a:ext>
            </a:extLst>
          </p:cNvPr>
          <p:cNvSpPr>
            <a:spLocks xmlns:a="http://schemas.openxmlformats.org/drawingml/2006/main" noGrp="1"/>
          </p:cNvSpPr>
          <p:nvPr/>
        </p:nvSpPr>
        <p:spPr>
          <a:xfrm xmlns:a="http://schemas.openxmlformats.org/drawingml/2006/main">
            <a:off x="393668" y="1838801"/>
            <a:ext cx="5533168" cy="4155567"/>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950" b="1">
                <a:solidFill>
                  <a:srgbClr val="3D8DFF"/>
                </a:solidFill>
                <a:latin typeface="Arial"/>
                <a:ea typeface="Arial"/>
                <a:cs typeface="Arial"/>
              </a:rPr>
              <a:t>The user challenge</a:t>
            </a:r>
          </a:p>
          <a:p xmlns:a="http://schemas.openxmlformats.org/drawingml/2006/main">
            <a:pPr algn="l">
              <a:lnSpc>
                <a:spcPct val="100000"/>
              </a:lnSpc>
              <a:buNone/>
              <a:defRPr sz="2400">
                <a:solidFill>
                  <a:srgbClr val="000000"/>
                </a:solidFill>
                <a:latin typeface="Helvetica Neue"/>
                <a:ea typeface="Helvetica Neue"/>
                <a:cs typeface="Helvetica Neue"/>
              </a:defRPr>
            </a:pPr>
            <a:r>
              <a:rPr sz="1800" b="0">
                <a:solidFill>
                  <a:srgbClr val="000000"/>
                </a:solidFill>
                <a:latin typeface="Arial"/>
                <a:ea typeface="Arial"/>
                <a:cs typeface="Arial"/>
              </a:rPr>
              <a:t>Owners juggle walks, feeding, medication, grooming, and appointments.</a:t>
            </a:r>
          </a:p>
          <a:p xmlns:a="http://schemas.openxmlformats.org/drawingml/2006/main">
            <a:pPr algn="l">
              <a:lnSpc>
                <a:spcPct val="100000"/>
              </a:lnSpc>
              <a:buNone/>
              <a:defRPr sz="2400">
                <a:solidFill>
                  <a:srgbClr val="000000"/>
                </a:solidFill>
                <a:latin typeface="Helvetica Neue"/>
                <a:ea typeface="Helvetica Neue"/>
                <a:cs typeface="Helvetica Neue"/>
              </a:defRPr>
            </a:pPr>
            <a:r>
              <a:rPr sz="1800" b="0">
                <a:solidFill>
                  <a:srgbClr val="000000"/>
                </a:solidFill>
                <a:latin typeface="Arial"/>
                <a:ea typeface="Arial"/>
                <a:cs typeface="Arial"/>
              </a:rPr>
              <a:t>Limited time makes priority and timing hard to manage.</a:t>
            </a:r>
          </a:p>
          <a:p xmlns:a="http://schemas.openxmlformats.org/drawingml/2006/main">
            <a:pPr algn="l">
              <a:lnSpc>
                <a:spcPct val="100000"/>
              </a:lnSpc>
              <a:buNone/>
              <a:defRPr sz="2400">
                <a:solidFill>
                  <a:srgbClr val="000000"/>
                </a:solidFill>
                <a:latin typeface="Helvetica Neue"/>
                <a:ea typeface="Helvetica Neue"/>
                <a:cs typeface="Helvetica Neue"/>
              </a:defRPr>
            </a:pPr>
            <a:r>
              <a:rPr sz="1800" b="0">
                <a:solidFill>
                  <a:srgbClr val="000000"/>
                </a:solidFill>
                <a:latin typeface="Arial"/>
                <a:ea typeface="Arial"/>
                <a:cs typeface="Arial"/>
              </a:rPr>
              <a:t>A generic chatbot may ignore the actual schedule or give unsupported advice.</a:t>
            </a:r>
          </a:p>
        </p:txBody>
      </p:sp>
      <p:sp>
        <p:nvSpPr>
          <p:cNvPr id="2" name="Google-Shape-532-p58-3">
            <a:extLst xmlns:a="http://schemas.openxmlformats.org/drawingml/2006/main">
              <a:ext uri="{FF2B5EF4-FFF2-40B4-BE49-F238E27FC236}">
                <a16:creationId xmlns:a16="http://schemas.microsoft.com/office/drawing/2014/main" id="{524A580A-C3F4-45F6-927F-C8BCADEFF440}"/>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2</a:t>
            </a:r>
          </a:p>
        </p:txBody>
      </p:sp>
      <p:sp>
        <p:nvSpPr>
          <p:cNvPr id="3" name="Google-Shape-533-p58-4">
            <a:extLst xmlns:a="http://schemas.openxmlformats.org/drawingml/2006/main">
              <a:ext uri="{FF2B5EF4-FFF2-40B4-BE49-F238E27FC236}">
                <a16:creationId xmlns:a16="http://schemas.microsoft.com/office/drawing/2014/main" id="{91A431C4-7F4A-47A9-BCBC-9C174AD4DBB1}"/>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900">
                <a:solidFill>
                  <a:srgbClr val="000000"/>
                </a:solidFill>
                <a:latin typeface="Helvetica Neue"/>
                <a:ea typeface="Helvetica Neue"/>
                <a:cs typeface="Helvetica Neue"/>
              </a:defRPr>
            </a:pPr>
            <a:r>
              <a:rPr sz="2900" b="1">
                <a:solidFill>
                  <a:srgbClr val="000000"/>
                </a:solidFill>
                <a:latin typeface="Arial"/>
                <a:ea typeface="Arial"/>
                <a:cs typeface="Arial"/>
              </a:rPr>
              <a:t>Pet care is a scheduling problem before it is an AI problem.</a:t>
            </a:r>
          </a:p>
        </p:txBody>
      </p:sp>
      <p:sp>
        <p:nvSpPr>
          <p:cNvPr id="4" name="Google-Shape-534-p58-5">
            <a:extLst xmlns:a="http://schemas.openxmlformats.org/drawingml/2006/main">
              <a:ext uri="{FF2B5EF4-FFF2-40B4-BE49-F238E27FC236}">
                <a16:creationId xmlns:a16="http://schemas.microsoft.com/office/drawing/2014/main" id="{D8272AEF-B6B2-4446-8404-9FE825ED2C83}"/>
              </a:ext>
            </a:extLst>
          </p:cNvPr>
          <p:cNvSpPr>
            <a:spLocks xmlns:a="http://schemas.openxmlformats.org/drawingml/2006/main" noGrp="1"/>
          </p:cNvSpPr>
          <p:nvPr/>
        </p:nvSpPr>
        <p:spPr>
          <a:xfrm xmlns:a="http://schemas.openxmlformats.org/drawingml/2006/main">
            <a:off x="6265069" y="2192655"/>
            <a:ext cx="5537168" cy="380171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950" b="1">
                <a:solidFill>
                  <a:srgbClr val="3D8DFF"/>
                </a:solidFill>
                <a:latin typeface="Arial"/>
                <a:ea typeface="Arial"/>
                <a:cs typeface="Arial"/>
              </a:rPr>
              <a:t>PawPal’s answer</a:t>
            </a:r>
          </a:p>
          <a:p xmlns:a="http://schemas.openxmlformats.org/drawingml/2006/main">
            <a:pPr algn="l">
              <a:lnSpc>
                <a:spcPct val="100000"/>
              </a:lnSpc>
              <a:buNone/>
              <a:defRPr sz="2400">
                <a:solidFill>
                  <a:srgbClr val="000000"/>
                </a:solidFill>
                <a:latin typeface="Helvetica Neue"/>
                <a:ea typeface="Helvetica Neue"/>
                <a:cs typeface="Helvetica Neue"/>
              </a:defRPr>
            </a:pPr>
            <a:r>
              <a:rPr sz="1800" b="0">
                <a:solidFill>
                  <a:srgbClr val="000000"/>
                </a:solidFill>
                <a:latin typeface="Arial"/>
                <a:ea typeface="Arial"/>
                <a:cs typeface="Arial"/>
              </a:rPr>
              <a:t>Python builds the plan deterministically.</a:t>
            </a:r>
          </a:p>
          <a:p xmlns:a="http://schemas.openxmlformats.org/drawingml/2006/main">
            <a:pPr algn="l">
              <a:lnSpc>
                <a:spcPct val="100000"/>
              </a:lnSpc>
              <a:buNone/>
              <a:defRPr sz="2400">
                <a:solidFill>
                  <a:srgbClr val="000000"/>
                </a:solidFill>
                <a:latin typeface="Helvetica Neue"/>
                <a:ea typeface="Helvetica Neue"/>
                <a:cs typeface="Helvetica Neue"/>
              </a:defRPr>
            </a:pPr>
            <a:r>
              <a:rPr sz="1800" b="0">
                <a:solidFill>
                  <a:srgbClr val="000000"/>
                </a:solidFill>
                <a:latin typeface="Arial"/>
                <a:ea typeface="Arial"/>
                <a:cs typeface="Arial"/>
              </a:rPr>
              <a:t>AI explains that plan using retrieved pet-care guidance.</a:t>
            </a:r>
          </a:p>
        </p:txBody>
      </p:sp>
    </p:spTree>
    <p:extLst>
      <p:ext uri="{BB962C8B-B14F-4D97-AF65-F5344CB8AC3E}">
        <p14:creationId xmlns:p14="http://schemas.microsoft.com/office/powerpoint/2010/main" val="148266850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E8E8E656-F9E8-4E49-ACCC-F383F02F0E48}"/>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3</a:t>
            </a:r>
          </a:p>
        </p:txBody>
      </p:sp>
      <p:sp>
        <p:nvSpPr>
          <p:cNvPr id="2" name="Title-10-3">
            <a:extLst xmlns:a="http://schemas.openxmlformats.org/drawingml/2006/main">
              <a:ext uri="{FF2B5EF4-FFF2-40B4-BE49-F238E27FC236}">
                <a16:creationId xmlns:a16="http://schemas.microsoft.com/office/drawing/2014/main" id="{81468B51-52C8-44CE-BB0D-84CEB10314BA}"/>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900">
                <a:solidFill>
                  <a:srgbClr val="000000"/>
                </a:solidFill>
                <a:latin typeface="Helvetica Neue"/>
                <a:ea typeface="Helvetica Neue"/>
                <a:cs typeface="Helvetica Neue"/>
              </a:defRPr>
            </a:pPr>
            <a:r>
              <a:rPr sz="2900" b="1">
                <a:solidFill>
                  <a:srgbClr val="000000"/>
                </a:solidFill>
                <a:latin typeface="Arial"/>
                <a:ea typeface="Arial"/>
                <a:cs typeface="Arial"/>
              </a:rPr>
              <a:t>The AI thinks in a fixed, inspectable RAG pipeline.</a:t>
            </a:r>
          </a:p>
        </p:txBody>
      </p:sp>
      <p:cxnSp>
        <p:nvCxnSpPr>
          <p:cNvPr id="15"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1FC4819E-0B4F-40BE-8AC9-520FDC7BD9FA}"/>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7772779B-DF1E-4765-A8E2-DCF643BA00A7}"/>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420E6998-0850-457F-9A74-AAD0003C6C5B}"/>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38C60123-87B7-4885-9AE5-59D9A42D8D9C}"/>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600" b="1">
                <a:solidFill>
                  <a:srgbClr val="3D8DFF"/>
                </a:solidFill>
                <a:latin typeface="Arial"/>
                <a:ea typeface="Arial"/>
                <a:cs typeface="Arial"/>
              </a:rPr>
              <a:t>1 · PLAN</a:t>
            </a:r>
          </a:p>
        </p:txBody>
      </p:sp>
      <p:sp>
        <p:nvSpPr>
          <p:cNvPr id="8" name="Content-Placeholder-15-9">
            <a:extLst xmlns:a="http://schemas.openxmlformats.org/drawingml/2006/main">
              <a:ext uri="{FF2B5EF4-FFF2-40B4-BE49-F238E27FC236}">
                <a16:creationId xmlns:a16="http://schemas.microsoft.com/office/drawing/2014/main" id="{4B7667D6-F8C8-4B7C-A195-6BE7ACAB4D7A}"/>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600" b="1">
                <a:solidFill>
                  <a:srgbClr val="3D8DFF"/>
                </a:solidFill>
                <a:latin typeface="Arial"/>
                <a:ea typeface="Arial"/>
                <a:cs typeface="Arial"/>
              </a:rPr>
              <a:t>2 · RETRIEVE</a:t>
            </a:r>
          </a:p>
        </p:txBody>
      </p:sp>
      <p:sp>
        <p:nvSpPr>
          <p:cNvPr id="9" name="Content-Placeholder-15-10">
            <a:extLst xmlns:a="http://schemas.openxmlformats.org/drawingml/2006/main">
              <a:ext uri="{FF2B5EF4-FFF2-40B4-BE49-F238E27FC236}">
                <a16:creationId xmlns:a16="http://schemas.microsoft.com/office/drawing/2014/main" id="{40EECAF0-BBE4-4FB1-B5A0-15453843F5FD}"/>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600" b="1">
                <a:solidFill>
                  <a:srgbClr val="3D8DFF"/>
                </a:solidFill>
                <a:latin typeface="Arial"/>
                <a:ea typeface="Arial"/>
                <a:cs typeface="Arial"/>
              </a:rPr>
              <a:t>3 · EXPLAIN</a:t>
            </a:r>
          </a:p>
        </p:txBody>
      </p:sp>
      <p:sp>
        <p:nvSpPr>
          <p:cNvPr id="10" name="Text-Placeholder-16-11">
            <a:extLst xmlns:a="http://schemas.openxmlformats.org/drawingml/2006/main">
              <a:ext uri="{FF2B5EF4-FFF2-40B4-BE49-F238E27FC236}">
                <a16:creationId xmlns:a16="http://schemas.microsoft.com/office/drawing/2014/main" id="{E40A8E4F-136F-4445-948B-110531E72969}"/>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950" b="1">
                <a:solidFill>
                  <a:srgbClr val="000000"/>
                </a:solidFill>
                <a:latin typeface="Arial"/>
                <a:ea typeface="Arial"/>
                <a:cs typeface="Arial"/>
              </a:rPr>
              <a:t>Local care guide</a:t>
            </a:r>
          </a:p>
          <a:p xmlns:a="http://schemas.openxmlformats.org/drawingml/2006/main">
            <a:pPr algn="l">
              <a:lnSpc>
                <a:spcPct val="100000"/>
              </a:lnSpc>
              <a:buNone/>
              <a:defRPr sz="2400">
                <a:solidFill>
                  <a:srgbClr val="000000"/>
                </a:solidFill>
                <a:latin typeface="Helvetica Neue"/>
                <a:ea typeface="Helvetica Neue"/>
                <a:cs typeface="Helvetica Neue"/>
              </a:defRPr>
            </a:pPr>
            <a:r>
              <a:rPr sz="1600" b="0">
                <a:solidFill>
                  <a:srgbClr val="000000"/>
                </a:solidFill>
                <a:latin typeface="Arial"/>
                <a:ea typeface="Arial"/>
                <a:cs typeface="Arial"/>
              </a:rPr>
              <a:t>Filters by species, ranks matches, and scores retrieval confidence.</a:t>
            </a:r>
          </a:p>
        </p:txBody>
      </p:sp>
      <p:sp>
        <p:nvSpPr>
          <p:cNvPr id="11" name="Text-Placeholder-16-12">
            <a:extLst xmlns:a="http://schemas.openxmlformats.org/drawingml/2006/main">
              <a:ext uri="{FF2B5EF4-FFF2-40B4-BE49-F238E27FC236}">
                <a16:creationId xmlns:a16="http://schemas.microsoft.com/office/drawing/2014/main" id="{366FB1A6-8801-4BB0-8ADF-B017D5AC0CCD}"/>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950" b="1">
                <a:solidFill>
                  <a:srgbClr val="000000"/>
                </a:solidFill>
                <a:latin typeface="Arial"/>
                <a:ea typeface="Arial"/>
                <a:cs typeface="Arial"/>
              </a:rPr>
              <a:t>Python scheduler</a:t>
            </a:r>
          </a:p>
          <a:p xmlns:a="http://schemas.openxmlformats.org/drawingml/2006/main">
            <a:pPr algn="l">
              <a:lnSpc>
                <a:spcPct val="100000"/>
              </a:lnSpc>
              <a:buNone/>
              <a:defRPr sz="2400">
                <a:solidFill>
                  <a:srgbClr val="000000"/>
                </a:solidFill>
                <a:latin typeface="Helvetica Neue"/>
                <a:ea typeface="Helvetica Neue"/>
                <a:cs typeface="Helvetica Neue"/>
              </a:defRPr>
            </a:pPr>
            <a:r>
              <a:rPr sz="1600" b="0">
                <a:solidFill>
                  <a:srgbClr val="000000"/>
                </a:solidFill>
                <a:latin typeface="Arial"/>
                <a:ea typeface="Arial"/>
                <a:cs typeface="Arial"/>
              </a:rPr>
              <a:t>Sorts by priority and fits tasks into available time.</a:t>
            </a:r>
          </a:p>
        </p:txBody>
      </p:sp>
      <p:sp>
        <p:nvSpPr>
          <p:cNvPr id="12" name="Text-Placeholder-16-13">
            <a:extLst xmlns:a="http://schemas.openxmlformats.org/drawingml/2006/main">
              <a:ext uri="{FF2B5EF4-FFF2-40B4-BE49-F238E27FC236}">
                <a16:creationId xmlns:a16="http://schemas.microsoft.com/office/drawing/2014/main" id="{62FFC858-B535-4C54-BB0D-DA00DB88BABB}"/>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950" b="1">
                <a:solidFill>
                  <a:srgbClr val="000000"/>
                </a:solidFill>
                <a:latin typeface="Arial"/>
                <a:ea typeface="Arial"/>
                <a:cs typeface="Arial"/>
              </a:rPr>
              <a:t>Claude Haiku 4.5</a:t>
            </a:r>
          </a:p>
          <a:p xmlns:a="http://schemas.openxmlformats.org/drawingml/2006/main">
            <a:pPr algn="l">
              <a:lnSpc>
                <a:spcPct val="100000"/>
              </a:lnSpc>
              <a:buNone/>
              <a:defRPr sz="2400">
                <a:solidFill>
                  <a:srgbClr val="000000"/>
                </a:solidFill>
                <a:latin typeface="Helvetica Neue"/>
                <a:ea typeface="Helvetica Neue"/>
                <a:cs typeface="Helvetica Neue"/>
              </a:defRPr>
            </a:pPr>
            <a:r>
              <a:rPr sz="1600" b="0">
                <a:solidFill>
                  <a:srgbClr val="000000"/>
                </a:solidFill>
                <a:latin typeface="Arial"/>
                <a:ea typeface="Arial"/>
                <a:cs typeface="Arial"/>
              </a:rPr>
              <a:t>Uses the plan and sources to answer with citations.</a:t>
            </a:r>
          </a:p>
        </p:txBody>
      </p:sp>
    </p:spTree>
    <p:extLst>
      <p:ext uri="{BB962C8B-B14F-4D97-AF65-F5344CB8AC3E}">
        <p14:creationId xmlns:p14="http://schemas.microsoft.com/office/powerpoint/2010/main" val="175136252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3" name="Rounded-Rectangle-5-1">
            <a:extLst xmlns:a="http://schemas.openxmlformats.org/drawingml/2006/main">
              <a:ext uri="{FF2B5EF4-FFF2-40B4-BE49-F238E27FC236}">
                <a16:creationId xmlns:a16="http://schemas.microsoft.com/office/drawing/2014/main" id="{AE0F553A-A5F6-4798-961B-D10DF1561764}"/>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F58A4F41-E8D6-4C84-B059-1350119772C4}"/>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67CC1B81-E335-4470-B190-270C593D6678}"/>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7B75A4D2-DAD1-4028-AA25-EE4D62DBE711}"/>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4</a:t>
            </a:r>
          </a:p>
        </p:txBody>
      </p:sp>
      <p:sp>
        <p:nvSpPr>
          <p:cNvPr id="5" name="Title-2-5">
            <a:extLst xmlns:a="http://schemas.openxmlformats.org/drawingml/2006/main">
              <a:ext uri="{FF2B5EF4-FFF2-40B4-BE49-F238E27FC236}">
                <a16:creationId xmlns:a16="http://schemas.microsoft.com/office/drawing/2014/main" id="{C9AECF69-CDF3-45C3-9722-3A84AE43946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900">
                <a:solidFill>
                  <a:srgbClr val="000000"/>
                </a:solidFill>
                <a:latin typeface="Helvetica Neue"/>
                <a:ea typeface="Helvetica Neue"/>
                <a:cs typeface="Helvetica Neue"/>
              </a:defRPr>
            </a:pPr>
            <a:r>
              <a:rPr sz="2900" b="1">
                <a:solidFill>
                  <a:srgbClr val="000000"/>
                </a:solidFill>
                <a:latin typeface="Arial"/>
                <a:ea typeface="Arial"/>
                <a:cs typeface="Arial"/>
              </a:rPr>
              <a:t>Reliability is measured, not assumed.</a:t>
            </a:r>
          </a:p>
        </p:txBody>
      </p:sp>
      <p:sp>
        <p:nvSpPr>
          <p:cNvPr id="6" name="Content-Placeholder-9-6">
            <a:extLst xmlns:a="http://schemas.openxmlformats.org/drawingml/2006/main">
              <a:ext uri="{FF2B5EF4-FFF2-40B4-BE49-F238E27FC236}">
                <a16:creationId xmlns:a16="http://schemas.microsoft.com/office/drawing/2014/main" id="{4132E949-E098-4EA6-8309-985699E675A1}"/>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b="1">
                <a:solidFill>
                  <a:srgbClr val="000000"/>
                </a:solidFill>
                <a:latin typeface="Arial"/>
                <a:ea typeface="Arial"/>
                <a:cs typeface="Arial"/>
              </a:rPr>
              <a:t>Pytest cases passed</a:t>
            </a:r>
          </a:p>
        </p:txBody>
      </p:sp>
      <p:sp>
        <p:nvSpPr>
          <p:cNvPr id="7" name="Content-Placeholder-10-7">
            <a:extLst xmlns:a="http://schemas.openxmlformats.org/drawingml/2006/main">
              <a:ext uri="{FF2B5EF4-FFF2-40B4-BE49-F238E27FC236}">
                <a16:creationId xmlns:a16="http://schemas.microsoft.com/office/drawing/2014/main" id="{ABA73426-9537-4AD7-9AD3-C9E3CC339915}"/>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b="1">
                <a:solidFill>
                  <a:srgbClr val="000000"/>
                </a:solidFill>
                <a:latin typeface="Arial"/>
                <a:ea typeface="Arial"/>
                <a:cs typeface="Arial"/>
              </a:rPr>
              <a:t>Retrieval confidence in demo</a:t>
            </a:r>
          </a:p>
        </p:txBody>
      </p:sp>
      <p:sp>
        <p:nvSpPr>
          <p:cNvPr id="8" name="Content-Placeholder-11-8">
            <a:extLst xmlns:a="http://schemas.openxmlformats.org/drawingml/2006/main">
              <a:ext uri="{FF2B5EF4-FFF2-40B4-BE49-F238E27FC236}">
                <a16:creationId xmlns:a16="http://schemas.microsoft.com/office/drawing/2014/main" id="{A129DA7B-41BA-42C4-85B0-A8D6CEE7943B}"/>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b="1">
                <a:solidFill>
                  <a:srgbClr val="000000"/>
                </a:solidFill>
                <a:latin typeface="Arial"/>
                <a:ea typeface="Arial"/>
                <a:cs typeface="Arial"/>
              </a:rPr>
              <a:t>Evaluation scenarios passed</a:t>
            </a:r>
          </a:p>
        </p:txBody>
      </p:sp>
      <p:sp>
        <p:nvSpPr>
          <p:cNvPr id="9" name="Content-Placeholder-9-9">
            <a:extLst xmlns:a="http://schemas.openxmlformats.org/drawingml/2006/main">
              <a:ext uri="{FF2B5EF4-FFF2-40B4-BE49-F238E27FC236}">
                <a16:creationId xmlns:a16="http://schemas.microsoft.com/office/drawing/2014/main" id="{8E364739-87EC-48CD-9F12-222D4F26BBA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5400" b="1">
                <a:solidFill>
                  <a:srgbClr val="3D8DFF"/>
                </a:solidFill>
                <a:latin typeface="Arial"/>
                <a:ea typeface="Arial"/>
                <a:cs typeface="Arial"/>
              </a:rPr>
              <a:t>48</a:t>
            </a:r>
          </a:p>
        </p:txBody>
      </p:sp>
      <p:sp>
        <p:nvSpPr>
          <p:cNvPr id="10" name="Content-Placeholder-9-10">
            <a:extLst xmlns:a="http://schemas.openxmlformats.org/drawingml/2006/main">
              <a:ext uri="{FF2B5EF4-FFF2-40B4-BE49-F238E27FC236}">
                <a16:creationId xmlns:a16="http://schemas.microsoft.com/office/drawing/2014/main" id="{F039171E-E05D-42ED-8B4D-8C93E757EE5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5400" b="1">
                <a:solidFill>
                  <a:srgbClr val="3D8DFF"/>
                </a:solidFill>
                <a:latin typeface="Arial"/>
                <a:ea typeface="Arial"/>
                <a:cs typeface="Arial"/>
              </a:rPr>
              <a:t>7/7</a:t>
            </a:r>
          </a:p>
        </p:txBody>
      </p:sp>
      <p:sp>
        <p:nvSpPr>
          <p:cNvPr id="11" name="Content-Placeholder-9-11">
            <a:extLst xmlns:a="http://schemas.openxmlformats.org/drawingml/2006/main">
              <a:ext uri="{FF2B5EF4-FFF2-40B4-BE49-F238E27FC236}">
                <a16:creationId xmlns:a16="http://schemas.microsoft.com/office/drawing/2014/main" id="{587D762C-3444-496A-8BF9-FF56ADFCD9F7}"/>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5400" b="1">
                <a:solidFill>
                  <a:srgbClr val="3D8DFF"/>
                </a:solidFill>
                <a:latin typeface="Arial"/>
                <a:ea typeface="Arial"/>
                <a:cs typeface="Arial"/>
              </a:rPr>
              <a:t>95%</a:t>
            </a:r>
          </a:p>
        </p:txBody>
      </p:sp>
      <p:sp>
        <p:nvSpPr>
          <p:cNvPr id="12" name="Content-Placeholder-15-12">
            <a:extLst xmlns:a="http://schemas.openxmlformats.org/drawingml/2006/main">
              <a:ext uri="{FF2B5EF4-FFF2-40B4-BE49-F238E27FC236}">
                <a16:creationId xmlns:a16="http://schemas.microsoft.com/office/drawing/2014/main" id="{CB6ACD50-B475-4FE3-905D-53C5ABE5A340}"/>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800" b="1">
                <a:solidFill>
                  <a:srgbClr val="3D8DFF"/>
                </a:solidFill>
                <a:latin typeface="Arial"/>
                <a:ea typeface="Arial"/>
                <a:cs typeface="Arial"/>
              </a:rPr>
              <a:t>Three layers of evidence</a:t>
            </a:r>
          </a:p>
          <a:p xmlns:a="http://schemas.openxmlformats.org/drawingml/2006/main">
            <a:pPr algn="l">
              <a:lnSpc>
                <a:spcPct val="100000"/>
              </a:lnSpc>
              <a:buNone/>
              <a:defRPr sz="1600">
                <a:solidFill>
                  <a:srgbClr val="000000"/>
                </a:solidFill>
                <a:latin typeface="Helvetica Neue"/>
                <a:ea typeface="Helvetica Neue"/>
                <a:cs typeface="Helvetica Neue"/>
              </a:defRPr>
            </a:pPr>
            <a:r>
              <a:rPr sz="1600" b="0">
                <a:solidFill>
                  <a:srgbClr val="000000"/>
                </a:solidFill>
                <a:latin typeface="Arial"/>
                <a:ea typeface="Arial"/>
                <a:cs typeface="Arial"/>
              </a:rPr>
              <a:t>Tests cover deterministic logic, retrieval quality, model boundaries, and emergency behavior.</a:t>
            </a:r>
          </a:p>
        </p:txBody>
      </p:sp>
    </p:spTree>
    <p:extLst>
      <p:ext uri="{BB962C8B-B14F-4D97-AF65-F5344CB8AC3E}">
        <p14:creationId xmlns:p14="http://schemas.microsoft.com/office/powerpoint/2010/main" val="118370737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2683AD17-796C-489E-B70B-40337C1651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5</a:t>
            </a:r>
          </a:p>
        </p:txBody>
      </p:sp>
      <p:sp>
        <p:nvSpPr>
          <p:cNvPr id="2" name="Google-Shape-533-p58-3">
            <a:extLst xmlns:a="http://schemas.openxmlformats.org/drawingml/2006/main">
              <a:ext uri="{FF2B5EF4-FFF2-40B4-BE49-F238E27FC236}">
                <a16:creationId xmlns:a16="http://schemas.microsoft.com/office/drawing/2014/main" id="{07D5337D-3CC0-4E18-B337-0C4ACFACB256}"/>
              </a:ext>
            </a:extLst>
          </p:cNvPr>
          <p:cNvSpPr>
            <a:spLocks xmlns:a="http://schemas.openxmlformats.org/drawingml/2006/main" noGrp="1"/>
          </p:cNvSpPr>
          <p:nvPr/>
        </p:nvSpPr>
        <p:spPr>
          <a:xfrm xmlns:a="http://schemas.openxmlformats.org/drawingml/2006/main">
            <a:off x="393668" y="344519"/>
            <a:ext cx="11404568" cy="644271"/>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900">
                <a:solidFill>
                  <a:srgbClr val="000000"/>
                </a:solidFill>
                <a:latin typeface="Helvetica Neue"/>
                <a:ea typeface="Helvetica Neue"/>
                <a:cs typeface="Helvetica Neue"/>
              </a:defRPr>
            </a:pPr>
            <a:r>
              <a:rPr sz="2900" b="1">
                <a:solidFill>
                  <a:srgbClr val="000000"/>
                </a:solidFill>
                <a:latin typeface="Arial"/>
                <a:ea typeface="Arial"/>
                <a:cs typeface="Arial"/>
              </a:rPr>
              <a:t>The surprising bugs were in retrieval—not in Claude.</a:t>
            </a:r>
          </a:p>
        </p:txBody>
      </p:sp>
      <p:sp>
        <p:nvSpPr>
          <p:cNvPr id="3" name="Rounded-Rectangle-1-4">
            <a:extLst xmlns:a="http://schemas.openxmlformats.org/drawingml/2006/main">
              <a:ext uri="{FF2B5EF4-FFF2-40B4-BE49-F238E27FC236}">
                <a16:creationId xmlns:a16="http://schemas.microsoft.com/office/drawing/2014/main" id="{8E372ECC-EADC-47BE-8258-D568A24BEA18}"/>
              </a:ext>
            </a:extLst>
          </p:cNvPr>
          <p:cNvSpPr>
            <a:spLocks xmlns:a="http://schemas.openxmlformats.org/drawingml/2006/main" noGrp="1"/>
          </p:cNvSpPr>
          <p:nvPr/>
        </p:nvSpPr>
        <p:spPr>
          <a:xfrm xmlns:a="http://schemas.openxmlformats.org/drawingml/2006/main">
            <a:off x="397002"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55A73031-3BDA-444F-85D5-7FE7BF7D93E1}"/>
              </a:ext>
            </a:extLst>
          </p:cNvPr>
          <p:cNvSpPr>
            <a:spLocks xmlns:a="http://schemas.openxmlformats.org/drawingml/2006/main" noGrp="1"/>
          </p:cNvSpPr>
          <p:nvPr/>
        </p:nvSpPr>
        <p:spPr>
          <a:xfrm xmlns:a="http://schemas.openxmlformats.org/drawingml/2006/main">
            <a:off x="694277"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2100" b="1">
                <a:solidFill>
                  <a:srgbClr val="000000"/>
                </a:solidFill>
                <a:latin typeface="Arial"/>
                <a:ea typeface="Arial"/>
                <a:cs typeface="Arial"/>
              </a:rPr>
              <a:t>Helpful AI suggestion</a:t>
            </a:r>
          </a:p>
        </p:txBody>
      </p:sp>
      <p:sp>
        <p:nvSpPr>
          <p:cNvPr id="5" name="Content-Placeholder-15-6">
            <a:extLst xmlns:a="http://schemas.openxmlformats.org/drawingml/2006/main">
              <a:ext uri="{FF2B5EF4-FFF2-40B4-BE49-F238E27FC236}">
                <a16:creationId xmlns:a16="http://schemas.microsoft.com/office/drawing/2014/main" id="{530E3B19-EB98-4519-A431-7A0C990A51D7}"/>
              </a:ext>
            </a:extLst>
          </p:cNvPr>
          <p:cNvSpPr>
            <a:spLocks xmlns:a="http://schemas.openxmlformats.org/drawingml/2006/main" noGrp="1"/>
          </p:cNvSpPr>
          <p:nvPr/>
        </p:nvSpPr>
        <p:spPr>
          <a:xfrm xmlns:a="http://schemas.openxmlformats.org/drawingml/2006/main">
            <a:off x="694277"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400" b="0">
                <a:solidFill>
                  <a:srgbClr val="000000"/>
                </a:solidFill>
                <a:latin typeface="Arial"/>
                <a:ea typeface="Arial"/>
                <a:cs typeface="Arial"/>
              </a:rPr>
              <a:t>Keep scheduling deterministic</a:t>
            </a:r>
          </a:p>
          <a:p xmlns:a="http://schemas.openxmlformats.org/drawingml/2006/main">
            <a:pPr algn="l">
              <a:lnSpc>
                <a:spcPct val="100000"/>
              </a:lnSpc>
              <a:buNone/>
              <a:defRPr sz="1600">
                <a:solidFill>
                  <a:srgbClr val="000000"/>
                </a:solidFill>
                <a:latin typeface="Helvetica Neue"/>
                <a:ea typeface="Helvetica Neue"/>
                <a:cs typeface="Helvetica Neue"/>
              </a:defRPr>
            </a:pPr>
            <a:r>
              <a:rPr sz="1400" b="0">
                <a:solidFill>
                  <a:srgbClr val="000000"/>
                </a:solidFill>
                <a:latin typeface="Arial"/>
                <a:ea typeface="Arial"/>
                <a:cs typeface="Arial"/>
              </a:rPr>
              <a:t>Use Claude only for grounded explanations</a:t>
            </a:r>
          </a:p>
          <a:p xmlns:a="http://schemas.openxmlformats.org/drawingml/2006/main">
            <a:pPr algn="l">
              <a:lnSpc>
                <a:spcPct val="100000"/>
              </a:lnSpc>
              <a:buNone/>
              <a:defRPr sz="1600">
                <a:solidFill>
                  <a:srgbClr val="000000"/>
                </a:solidFill>
                <a:latin typeface="Helvetica Neue"/>
                <a:ea typeface="Helvetica Neue"/>
                <a:cs typeface="Helvetica Neue"/>
              </a:defRPr>
            </a:pPr>
            <a:r>
              <a:rPr sz="1400" b="0">
                <a:solidFill>
                  <a:srgbClr val="000000"/>
                </a:solidFill>
                <a:latin typeface="Arial"/>
                <a:ea typeface="Arial"/>
                <a:cs typeface="Arial"/>
              </a:rPr>
              <a:t>Separate logic, retrieval, and model tests</a:t>
            </a:r>
          </a:p>
        </p:txBody>
      </p:sp>
      <p:sp>
        <p:nvSpPr>
          <p:cNvPr id="6" name="Rounded-Rectangle-7-7">
            <a:extLst xmlns:a="http://schemas.openxmlformats.org/drawingml/2006/main">
              <a:ext uri="{FF2B5EF4-FFF2-40B4-BE49-F238E27FC236}">
                <a16:creationId xmlns:a16="http://schemas.microsoft.com/office/drawing/2014/main" id="{35DE5E7A-8FE9-428D-8546-10B37586DAD1}"/>
              </a:ext>
            </a:extLst>
          </p:cNvPr>
          <p:cNvSpPr>
            <a:spLocks xmlns:a="http://schemas.openxmlformats.org/drawingml/2006/main" noGrp="1"/>
          </p:cNvSpPr>
          <p:nvPr/>
        </p:nvSpPr>
        <p:spPr>
          <a:xfrm xmlns:a="http://schemas.openxmlformats.org/drawingml/2006/main">
            <a:off x="6260783"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7" name="Content-Placeholder-10-8">
            <a:extLst xmlns:a="http://schemas.openxmlformats.org/drawingml/2006/main">
              <a:ext uri="{FF2B5EF4-FFF2-40B4-BE49-F238E27FC236}">
                <a16:creationId xmlns:a16="http://schemas.microsoft.com/office/drawing/2014/main" id="{4EBD088E-0D54-48AC-84A3-C31FDE91B85C}"/>
              </a:ext>
            </a:extLst>
          </p:cNvPr>
          <p:cNvSpPr>
            <a:spLocks xmlns:a="http://schemas.openxmlformats.org/drawingml/2006/main" noGrp="1"/>
          </p:cNvSpPr>
          <p:nvPr/>
        </p:nvSpPr>
        <p:spPr>
          <a:xfrm xmlns:a="http://schemas.openxmlformats.org/drawingml/2006/main">
            <a:off x="6558058"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2100" b="1">
                <a:solidFill>
                  <a:srgbClr val="000000"/>
                </a:solidFill>
                <a:latin typeface="Arial"/>
                <a:ea typeface="Arial"/>
                <a:cs typeface="Arial"/>
              </a:rPr>
              <a:t>Flawed AI suggestion</a:t>
            </a:r>
          </a:p>
        </p:txBody>
      </p:sp>
      <p:sp>
        <p:nvSpPr>
          <p:cNvPr id="8" name="Content-Placeholder-15-9">
            <a:extLst xmlns:a="http://schemas.openxmlformats.org/drawingml/2006/main">
              <a:ext uri="{FF2B5EF4-FFF2-40B4-BE49-F238E27FC236}">
                <a16:creationId xmlns:a16="http://schemas.microsoft.com/office/drawing/2014/main" id="{5716679F-2E4B-449C-AD66-C88EA735DBD6}"/>
              </a:ext>
            </a:extLst>
          </p:cNvPr>
          <p:cNvSpPr>
            <a:spLocks xmlns:a="http://schemas.openxmlformats.org/drawingml/2006/main" noGrp="1"/>
          </p:cNvSpPr>
          <p:nvPr/>
        </p:nvSpPr>
        <p:spPr>
          <a:xfrm xmlns:a="http://schemas.openxmlformats.org/drawingml/2006/main">
            <a:off x="6558058"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400" b="0">
                <a:solidFill>
                  <a:srgbClr val="000000"/>
                </a:solidFill>
                <a:latin typeface="Arial"/>
                <a:ea typeface="Arial"/>
                <a:cs typeface="Arial"/>
              </a:rPr>
              <a:t>Species match was only a bonus</a:t>
            </a:r>
          </a:p>
          <a:p xmlns:a="http://schemas.openxmlformats.org/drawingml/2006/main">
            <a:pPr algn="l">
              <a:lnSpc>
                <a:spcPct val="100000"/>
              </a:lnSpc>
              <a:buNone/>
              <a:defRPr sz="1600">
                <a:solidFill>
                  <a:srgbClr val="000000"/>
                </a:solidFill>
                <a:latin typeface="Helvetica Neue"/>
                <a:ea typeface="Helvetica Neue"/>
                <a:cs typeface="Helvetica Neue"/>
              </a:defRPr>
            </a:pPr>
            <a:r>
              <a:rPr sz="1400" b="0">
                <a:solidFill>
                  <a:srgbClr val="000000"/>
                </a:solidFill>
                <a:latin typeface="Arial"/>
                <a:ea typeface="Arial"/>
                <a:cs typeface="Arial"/>
              </a:rPr>
              <a:t>Wrong-species passages slipped through</a:t>
            </a:r>
          </a:p>
          <a:p xmlns:a="http://schemas.openxmlformats.org/drawingml/2006/main">
            <a:pPr algn="l">
              <a:lnSpc>
                <a:spcPct val="100000"/>
              </a:lnSpc>
              <a:buNone/>
              <a:defRPr sz="1600">
                <a:solidFill>
                  <a:srgbClr val="000000"/>
                </a:solidFill>
                <a:latin typeface="Helvetica Neue"/>
                <a:ea typeface="Helvetica Neue"/>
                <a:cs typeface="Helvetica Neue"/>
              </a:defRPr>
            </a:pPr>
            <a:r>
              <a:rPr sz="1400" b="0">
                <a:solidFill>
                  <a:srgbClr val="000000"/>
                </a:solidFill>
                <a:latin typeface="Arial"/>
                <a:ea typeface="Arial"/>
                <a:cs typeface="Arial"/>
              </a:rPr>
              <a:t>Generic word “can” caused a false match</a:t>
            </a:r>
          </a:p>
        </p:txBody>
      </p:sp>
      <p:sp>
        <p:nvSpPr>
          <p:cNvPr id="9" name="Content-Placeholder-15-10">
            <a:extLst xmlns:a="http://schemas.openxmlformats.org/drawingml/2006/main">
              <a:ext uri="{FF2B5EF4-FFF2-40B4-BE49-F238E27FC236}">
                <a16:creationId xmlns:a16="http://schemas.microsoft.com/office/drawing/2014/main" id="{8816FDA6-1E93-42C2-A982-8E844CCE3B0C}"/>
              </a:ext>
            </a:extLst>
          </p:cNvPr>
          <p:cNvSpPr>
            <a:spLocks xmlns:a="http://schemas.openxmlformats.org/drawingml/2006/main" noGrp="1"/>
          </p:cNvSpPr>
          <p:nvPr/>
        </p:nvSpPr>
        <p:spPr>
          <a:xfrm xmlns:a="http://schemas.openxmlformats.org/drawingml/2006/main">
            <a:off x="400907" y="1157478"/>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800" b="1">
                <a:solidFill>
                  <a:srgbClr val="3D8DFF"/>
                </a:solidFill>
                <a:latin typeface="Arial"/>
                <a:ea typeface="Arial"/>
                <a:cs typeface="Arial"/>
              </a:rPr>
              <a:t>Testing taught me to inspect outputs, not only pass totals.</a:t>
            </a:r>
          </a:p>
          <a:p xmlns:a="http://schemas.openxmlformats.org/drawingml/2006/main">
            <a:pPr algn="l">
              <a:lnSpc>
                <a:spcPct val="100000"/>
              </a:lnSpc>
              <a:buNone/>
              <a:defRPr sz="1600">
                <a:solidFill>
                  <a:srgbClr val="000000"/>
                </a:solidFill>
                <a:latin typeface="Helvetica Neue"/>
                <a:ea typeface="Helvetica Neue"/>
                <a:cs typeface="Helvetica Neue"/>
              </a:defRPr>
            </a:pPr>
            <a:r>
              <a:rPr sz="1600" b="0">
                <a:solidFill>
                  <a:srgbClr val="000000"/>
                </a:solidFill>
                <a:latin typeface="Arial"/>
                <a:ea typeface="Arial"/>
                <a:cs typeface="Arial"/>
              </a:rPr>
              <a:t>A test can pass while irrelevant sources still appear.</a:t>
            </a:r>
          </a:p>
          <a:p xmlns:a="http://schemas.openxmlformats.org/drawingml/2006/main">
            <a:pPr algn="l">
              <a:lnSpc>
                <a:spcPct val="100000"/>
              </a:lnSpc>
              <a:buNone/>
              <a:defRPr sz="1600">
                <a:solidFill>
                  <a:srgbClr val="000000"/>
                </a:solidFill>
                <a:latin typeface="Helvetica Neue"/>
                <a:ea typeface="Helvetica Neue"/>
                <a:cs typeface="Helvetica Neue"/>
              </a:defRPr>
            </a:pPr>
            <a:r>
              <a:rPr sz="1600" b="0">
                <a:solidFill>
                  <a:srgbClr val="000000"/>
                </a:solidFill>
                <a:latin typeface="Arial"/>
                <a:ea typeface="Arial"/>
                <a:cs typeface="Arial"/>
              </a:rPr>
              <a:t>The fix was stronger retrieval rules and stronger assertions.</a:t>
            </a:r>
          </a:p>
        </p:txBody>
      </p:sp>
    </p:spTree>
    <p:extLst>
      <p:ext uri="{BB962C8B-B14F-4D97-AF65-F5344CB8AC3E}">
        <p14:creationId xmlns:p14="http://schemas.microsoft.com/office/powerpoint/2010/main" val="146481381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42B4E951-D263-40B6-AEEB-DDB72D5FB945}"/>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100000"/>
              </a:lnSpc>
              <a:buNone/>
              <a:defRPr sz="6000">
                <a:solidFill>
                  <a:srgbClr val="000000"/>
                </a:solidFill>
                <a:latin typeface="Helvetica Neue"/>
                <a:ea typeface="Helvetica Neue"/>
                <a:cs typeface="Helvetica Neue"/>
              </a:defRPr>
            </a:pPr>
            <a:r>
              <a:rPr sz="5400" b="1">
                <a:solidFill>
                  <a:srgbClr val="000000"/>
                </a:solidFill>
                <a:latin typeface="Arial"/>
                <a:ea typeface="Arial"/>
                <a:cs typeface="Arial"/>
              </a:rPr>
              <a:t>Useful AI is designed around its limits.</a:t>
            </a:r>
          </a:p>
        </p:txBody>
      </p:sp>
      <p:sp>
        <p:nvSpPr>
          <p:cNvPr id="2" name="Subtitle-4-2">
            <a:extLst xmlns:a="http://schemas.openxmlformats.org/drawingml/2006/main">
              <a:ext uri="{FF2B5EF4-FFF2-40B4-BE49-F238E27FC236}">
                <a16:creationId xmlns:a16="http://schemas.microsoft.com/office/drawing/2014/main" id="{576C03DB-ACA8-4DAE-8CBF-3C6FE3343868}"/>
              </a:ext>
            </a:extLst>
          </p:cNvPr>
          <p:cNvSpPr>
            <a:spLocks xmlns:a="http://schemas.openxmlformats.org/drawingml/2006/main" noGrp="1"/>
          </p:cNvSpPr>
          <p:nvPr/>
        </p:nvSpPr>
        <p:spPr>
          <a:xfrm xmlns:a="http://schemas.openxmlformats.org/drawingml/2006/main">
            <a:off x="393668" y="4973288"/>
            <a:ext cx="35687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2000" b="1">
                <a:solidFill>
                  <a:srgbClr val="000000"/>
                </a:solidFill>
                <a:latin typeface="Arial"/>
                <a:ea typeface="Arial"/>
                <a:cs typeface="Arial"/>
              </a:rPr>
              <a:t>Predictable by design</a:t>
            </a:r>
          </a:p>
          <a:p xmlns:a="http://schemas.openxmlformats.org/drawingml/2006/main">
            <a:pPr algn="l">
              <a:lnSpc>
                <a:spcPct val="100000"/>
              </a:lnSpc>
              <a:buNone/>
              <a:defRPr sz="2400">
                <a:solidFill>
                  <a:srgbClr val="000000"/>
                </a:solidFill>
                <a:latin typeface="Helvetica Neue"/>
                <a:ea typeface="Helvetica Neue"/>
                <a:cs typeface="Helvetica Neue"/>
              </a:defRPr>
            </a:pPr>
            <a:r>
              <a:rPr sz="2000" b="1">
                <a:solidFill>
                  <a:srgbClr val="000000"/>
                </a:solidFill>
                <a:latin typeface="Arial"/>
                <a:ea typeface="Arial"/>
                <a:cs typeface="Arial"/>
              </a:rPr>
              <a:t>Grounded in evidence</a:t>
            </a:r>
          </a:p>
          <a:p xmlns:a="http://schemas.openxmlformats.org/drawingml/2006/main">
            <a:pPr algn="l">
              <a:lnSpc>
                <a:spcPct val="100000"/>
              </a:lnSpc>
              <a:buNone/>
              <a:defRPr sz="2400">
                <a:solidFill>
                  <a:srgbClr val="000000"/>
                </a:solidFill>
                <a:latin typeface="Helvetica Neue"/>
                <a:ea typeface="Helvetica Neue"/>
                <a:cs typeface="Helvetica Neue"/>
              </a:defRPr>
            </a:pPr>
            <a:r>
              <a:rPr sz="2000" b="1">
                <a:solidFill>
                  <a:srgbClr val="000000"/>
                </a:solidFill>
                <a:latin typeface="Arial"/>
                <a:ea typeface="Arial"/>
                <a:cs typeface="Arial"/>
              </a:rPr>
              <a:t>Honest about limitations</a:t>
            </a:r>
          </a:p>
        </p:txBody>
      </p:sp>
      <p:sp>
        <p:nvSpPr>
          <p:cNvPr id="3" name="Subtitle-4-3">
            <a:extLst xmlns:a="http://schemas.openxmlformats.org/drawingml/2006/main">
              <a:ext uri="{FF2B5EF4-FFF2-40B4-BE49-F238E27FC236}">
                <a16:creationId xmlns:a16="http://schemas.microsoft.com/office/drawing/2014/main" id="{1E10D2F6-84B3-4093-9206-C894B24A3902}"/>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b="1">
                <a:solidFill>
                  <a:srgbClr val="3D8DFF"/>
                </a:solidFill>
                <a:latin typeface="Arial"/>
                <a:ea typeface="Arial"/>
                <a:cs typeface="Arial"/>
              </a:rPr>
              <a:t>PAWPAL+</a:t>
            </a:r>
          </a:p>
        </p:txBody>
      </p:sp>
    </p:spTree>
    <p:extLst>
      <p:ext uri="{BB962C8B-B14F-4D97-AF65-F5344CB8AC3E}">
        <p14:creationId xmlns:p14="http://schemas.microsoft.com/office/powerpoint/2010/main" val="4244677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2026-08-05T00:01:08.3010000Z</dcterms:created>
  <dcterms:modified xsi:type="dcterms:W3CDTF">2026-08-05T00:01:08.3010000Z</dcterms:modified>
</coreProperties>
</file>