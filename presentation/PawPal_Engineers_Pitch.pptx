
<file path=[Content_Types].xml><?xml version="1.0" encoding="utf-8"?>
<Types xmlns="http://schemas.openxmlformats.org/package/2006/content-types">
  <Default Extension="xml" ContentType="application/vnd.openxmlformats-package.core-properties+xml"/>
  <Default Extension="png" ContentType="image/png"/>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25fd1f8035e44ae9" /><Relationship Type="http://schemas.openxmlformats.org/officeDocument/2006/relationships/extended-properties" Target="/docProps/app.xml" Id="R3f7b6d2c91a84299" /><Relationship Type="http://schemas.openxmlformats.org/officeDocument/2006/relationships/officeDocument" Target="/ppt/presentation.xml" Id="R57b93fec81594a21" /></Relationships>
</file>

<file path=ppt/presentation.xml><?xml version="1.0" encoding="utf-8"?>
<p:presentation xmlns:p="http://schemas.openxmlformats.org/presentationml/2006/main">
  <p:sldMasterIdLst>
    <p:sldMasterId xmlns:r="http://schemas.openxmlformats.org/officeDocument/2006/relationships" id="2147483648" r:id="R12263533431f4e4f"/>
  </p:sldMasterIdLst>
  <p:notesMasterIdLst>
    <p:notesMasterId xmlns:r="http://schemas.openxmlformats.org/officeDocument/2006/relationships" r:id="R27668a6d7b234c48"/>
  </p:notesMasterIdLst>
  <p:sldIdLst>
    <p:sldId xmlns:r="http://schemas.openxmlformats.org/officeDocument/2006/relationships" id="256" r:id="R721695be37994370"/>
    <p:sldId xmlns:r="http://schemas.openxmlformats.org/officeDocument/2006/relationships" id="257" r:id="Rb0b62295f5c04345"/>
    <p:sldId xmlns:r="http://schemas.openxmlformats.org/officeDocument/2006/relationships" id="258" r:id="R30c436ad52bf4c5c"/>
    <p:sldId xmlns:r="http://schemas.openxmlformats.org/officeDocument/2006/relationships" id="259" r:id="R6fa78332376c4cf9"/>
    <p:sldId xmlns:r="http://schemas.openxmlformats.org/officeDocument/2006/relationships" id="260" r:id="R28c16e24e05e432b"/>
    <p:sldId xmlns:r="http://schemas.openxmlformats.org/officeDocument/2006/relationships" id="261" r:id="Rfaf8434a11c24c37"/>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162283db272a42c0" /><Relationship Type="http://schemas.openxmlformats.org/officeDocument/2006/relationships/slideMaster" Target="/ppt/slideMasters/slideMaster1.xml" Id="R12263533431f4e4f" /><Relationship Type="http://schemas.openxmlformats.org/officeDocument/2006/relationships/notesMaster" Target="/ppt/notesMasters/notesMaster1.xml" Id="R27668a6d7b234c48" /><Relationship Type="http://schemas.openxmlformats.org/officeDocument/2006/relationships/presProps" Target="/ppt/presProps.xml" Id="R0b2c365114cb4e31" /><Relationship Type="http://schemas.openxmlformats.org/officeDocument/2006/relationships/tableStyles" Target="/ppt/tableStyles.xml" Id="R13a8eb1e550b46ca" /><Relationship Type="http://schemas.openxmlformats.org/officeDocument/2006/relationships/slide" Target="/ppt/slides/slide1.xml" Id="R721695be37994370" /><Relationship Type="http://schemas.openxmlformats.org/officeDocument/2006/relationships/slide" Target="/ppt/slides/slide2.xml" Id="Rb0b62295f5c04345" /><Relationship Type="http://schemas.openxmlformats.org/officeDocument/2006/relationships/slide" Target="/ppt/slides/slide3.xml" Id="R30c436ad52bf4c5c" /><Relationship Type="http://schemas.openxmlformats.org/officeDocument/2006/relationships/slide" Target="/ppt/slides/slide4.xml" Id="R6fa78332376c4cf9" /><Relationship Type="http://schemas.openxmlformats.org/officeDocument/2006/relationships/slide" Target="/ppt/slides/slide5.xml" Id="R28c16e24e05e432b" /><Relationship Type="http://schemas.openxmlformats.org/officeDocument/2006/relationships/slide" Target="/ppt/slides/slide6.xml" Id="Rfaf8434a11c24c37"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65397ffad23c4324"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f1dd13aa9da3416a" /><Relationship Type="http://schemas.openxmlformats.org/officeDocument/2006/relationships/notesMaster" Target="/ppt/notesMasters/notesMaster1.xml" Id="R05c0dbf18d254044" /></Relationships>
</file>

<file path=ppt/notesSlides/_rels/notesSlide2.xml.rels>&#65279;<?xml version="1.0" encoding="utf-8"?><Relationships xmlns="http://schemas.openxmlformats.org/package/2006/relationships"><Relationship Type="http://schemas.openxmlformats.org/officeDocument/2006/relationships/slide" Target="/ppt/slides/slide2.xml" Id="R07a0e83bcf464fd5" /><Relationship Type="http://schemas.openxmlformats.org/officeDocument/2006/relationships/notesMaster" Target="/ppt/notesMasters/notesMaster1.xml" Id="Rffd15fddb2274cea" /></Relationships>
</file>

<file path=ppt/notesSlides/_rels/notesSlide3.xml.rels>&#65279;<?xml version="1.0" encoding="utf-8"?><Relationships xmlns="http://schemas.openxmlformats.org/package/2006/relationships"><Relationship Type="http://schemas.openxmlformats.org/officeDocument/2006/relationships/slide" Target="/ppt/slides/slide3.xml" Id="Rb1427a9982ca4c2a" /><Relationship Type="http://schemas.openxmlformats.org/officeDocument/2006/relationships/notesMaster" Target="/ppt/notesMasters/notesMaster1.xml" Id="Rca00414a2a23441a" /></Relationships>
</file>

<file path=ppt/notesSlides/_rels/notesSlide4.xml.rels>&#65279;<?xml version="1.0" encoding="utf-8"?><Relationships xmlns="http://schemas.openxmlformats.org/package/2006/relationships"><Relationship Type="http://schemas.openxmlformats.org/officeDocument/2006/relationships/slide" Target="/ppt/slides/slide4.xml" Id="R5afe5cb3d0e948b5" /><Relationship Type="http://schemas.openxmlformats.org/officeDocument/2006/relationships/notesMaster" Target="/ppt/notesMasters/notesMaster1.xml" Id="R098aba3cb8974659" /></Relationships>
</file>

<file path=ppt/notesSlides/_rels/notesSlide5.xml.rels>&#65279;<?xml version="1.0" encoding="utf-8"?><Relationships xmlns="http://schemas.openxmlformats.org/package/2006/relationships"><Relationship Type="http://schemas.openxmlformats.org/officeDocument/2006/relationships/slide" Target="/ppt/slides/slide5.xml" Id="Raba84ef4838243e6" /><Relationship Type="http://schemas.openxmlformats.org/officeDocument/2006/relationships/notesMaster" Target="/ppt/notesMasters/notesMaster1.xml" Id="Ref7e8df427654a40" /></Relationships>
</file>

<file path=ppt/notesSlides/_rels/notesSlide6.xml.rels>&#65279;<?xml version="1.0" encoding="utf-8"?><Relationships xmlns="http://schemas.openxmlformats.org/package/2006/relationships"><Relationship Type="http://schemas.openxmlformats.org/officeDocument/2006/relationships/slide" Target="/ppt/slides/slide6.xml" Id="R9ca1bb6288224cfb" /><Relationship Type="http://schemas.openxmlformats.org/officeDocument/2006/relationships/notesMaster" Target="/ppt/notesMasters/notesMaster1.xml" Id="R714ae6376ee84b72"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Hi everyone. My project is PawPal Plus, an applied AI pet-care planning assistant. I started with my earlier Module 2 PawPal project, which stored pets and tasks and generated a daily schedule. For this final project, I kept that reliable scheduling foundation and added retrieval-augmented generation, Claude guidance, confidence scoring, guardrails, structured logging, and reliability tests. My goal was not just to add a chatbot. I wanted to build a complete AI system that I could explain and test.</a:t>
            </a:r>
          </a:p>
          <a:p xmlns:a="http://schemas.openxmlformats.org/drawingml/2006/main">
            <a:r>
              <a:t/>
            </a:r>
          </a:p>
          <a:p xmlns:a="http://schemas.openxmlformats.org/drawingml/2006/main">
            <a:r>
              <a:t>[Sources]</a:t>
            </a:r>
          </a:p>
          <a:p xmlns:a="http://schemas.openxmlformats.org/drawingml/2006/main">
            <a:r>
              <a:t>- PawPal+ project repository: https://github.com/hemalekamohanram/codepath-applied-ai-system-project</a:t>
            </a:r>
          </a:p>
          <a:p xmlns:a="http://schemas.openxmlformats.org/drawingml/2006/main">
            <a:r>
              <a:t>- Cover illustration generated with the built-in OpenAI image-generation tool on August 4,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Pet owners may need to manage walks, feeding, medication, grooming, play, and appointments, often with limited time. The first problem is deciding which tasks are most important and what actually fits into the day. A generic chatbot can give general pet-care advice, but it may ignore the user's real schedule or give unsupported medical guidance. PawPal solves this by separating the work. Predictable Python logic creates the schedule, and AI is used only to explain that specific plan with relevant pet-care information.</a:t>
            </a:r>
          </a:p>
          <a:p xmlns:a="http://schemas.openxmlformats.org/drawingml/2006/main">
            <a:r>
              <a:t/>
            </a:r>
          </a:p>
          <a:p xmlns:a="http://schemas.openxmlformats.org/drawingml/2006/main">
            <a:r>
              <a:t>[Sources]</a:t>
            </a:r>
          </a:p>
          <a:p xmlns:a="http://schemas.openxmlformats.org/drawingml/2006/main">
            <a:r>
              <a:t>- PawPal+ project repository: https://github.com/hemalekamohanram/codepath-applied-ai-system-project</a:t>
            </a:r>
          </a:p>
          <a:p xmlns:a="http://schemas.openxmlformats.org/drawingml/2006/main">
            <a:r>
              <a:t>- Schedule image captured from the local PawPal Streamlit application on August 4,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PawPal uses a fixed RAG pipeline, not an agentic loop. First, the Python scheduler sorts tasks by priority and start time and creates a plan that fits within the available minutes. Second, the retriever searches a local pet-care knowledge base. It removes common stop words, filters out passages for the wrong species, ranks keyword matches, and calculates retrieval confidence. Third, PawPal sends the schedule, the question, and the retrieved passages to Claude Haiku 4.5. Claude explains the plan and cites the passage IDs. Before any of this, emergency language is checked. If the question may describe an emergency, PawPal skips Claude and directs the user to a veterinarian.</a:t>
            </a:r>
          </a:p>
          <a:p xmlns:a="http://schemas.openxmlformats.org/drawingml/2006/main">
            <a:r>
              <a:t/>
            </a:r>
          </a:p>
          <a:p xmlns:a="http://schemas.openxmlformats.org/drawingml/2006/main">
            <a:r>
              <a:t>[Sources]</a:t>
            </a:r>
          </a:p>
          <a:p xmlns:a="http://schemas.openxmlformats.org/drawingml/2006/main">
            <a:r>
              <a:t>- PawPal+ project repository: https://github.com/hemalekamohanram/codepath-applied-ai-system-project</a:t>
            </a:r>
          </a:p>
          <a:p xmlns:a="http://schemas.openxmlformats.org/drawingml/2006/main">
            <a:r>
              <a:t>- Guidance image captured from the local PawPal Streamlit application on August 4,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 did not want the system to only look like it worked, so I added multiple forms of evidence. The project has 48 passing Pytest cases covering scheduling, persistence, retrieval, model-call behavior, missing configuration, and guardrails. A separate evaluation harness runs seven predefined AI scenarios, and all seven passed. The live demo retrieved relevant sources and displayed 95 percent retrieval confidence. That percentage measures how strongly the question matched the retrieved documents; it is not medical certainty. The AI tests use a fake Claude client, so they are reproducible and do not spend API credits. GitHub Actions reruns the tests after every push.</a:t>
            </a:r>
          </a:p>
          <a:p xmlns:a="http://schemas.openxmlformats.org/drawingml/2006/main">
            <a:r>
              <a:t/>
            </a:r>
          </a:p>
          <a:p xmlns:a="http://schemas.openxmlformats.org/drawingml/2006/main">
            <a:r>
              <a:t>[Sources]</a:t>
            </a:r>
          </a:p>
          <a:p xmlns:a="http://schemas.openxmlformats.org/drawingml/2006/main">
            <a:r>
              <a:t>- PawPal+ project repository: https://github.com/hemalekamohanram/codepath-applied-ai-system-project</a:t>
            </a:r>
          </a:p>
          <a:p xmlns:a="http://schemas.openxmlformats.org/drawingml/2006/main">
            <a:r>
              <a:t>- Guardrail image captured from the local PawPal Streamlit application on August 4,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What surprised me most was that the hardest problems appeared in retrieval, not in Claude's final wording. My first retriever gave a species match a bonus but did not fully exclude the wrong species, so a cat question could retrieve dog guidance. Later, the common word can caused a medication question to match an unrelated enrichment passage. The original tests still passed because their assertions were too weak. I fixed the species filtering, expanded the stop-word list, and wrote stronger regression tests. This taught me to inspect actual outputs instead of trusting only a green test total.</a:t>
            </a:r>
          </a:p>
          <a:p xmlns:a="http://schemas.openxmlformats.org/drawingml/2006/main">
            <a:r>
              <a:t/>
            </a:r>
          </a:p>
          <a:p xmlns:a="http://schemas.openxmlformats.org/drawingml/2006/main">
            <a:r>
              <a:t>[Sources]</a:t>
            </a:r>
          </a:p>
          <a:p xmlns:a="http://schemas.openxmlformats.org/drawingml/2006/main">
            <a:r>
              <a:t>- PawPal+ project repository: https://github.com/hemalekamohanram/codepath-applied-ai-system-project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PawPal taught me that useful AI is designed around its limits. I kept scheduling predictable, grounded Claude with visible sources, tested unsafe and failure paths, and documented where the system should not be trusted. PawPal is still a student planning assistant, not a veterinarian, but it demonstrates the engineering mindset I want to bring to future AI projects: build something useful, make its behavior visible, test it honestly, and improve it when the evidence reveals a flaw. Thank you.</a:t>
            </a:r>
          </a:p>
          <a:p xmlns:a="http://schemas.openxmlformats.org/drawingml/2006/main">
            <a:r>
              <a:t/>
            </a:r>
          </a:p>
          <a:p xmlns:a="http://schemas.openxmlformats.org/drawingml/2006/main">
            <a:r>
              <a:t>[Sources]</a:t>
            </a:r>
          </a:p>
          <a:p xmlns:a="http://schemas.openxmlformats.org/drawingml/2006/main">
            <a:r>
              <a:t>- PawPal+ project repository: https://github.com/hemalekamohanram/codepath-applied-ai-system-project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d14ff4e2ea9f4d24"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2820e8f6e87946e4" /><Relationship Type="http://schemas.openxmlformats.org/officeDocument/2006/relationships/slideLayout" Target="/ppt/slideLayouts/slideLayout1.xml" Id="Rca34961fba944437"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ca34961fba944437"/>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4eb5d3e390354d9a" /><Relationship Type="http://schemas.openxmlformats.org/officeDocument/2006/relationships/image" Target="/ppt/media/image.png" Id="Re137e1b10e09419f" /><Relationship Type="http://schemas.openxmlformats.org/officeDocument/2006/relationships/notesSlide" Target="/ppt/notesSlides/notesSlide1.xml" Id="R9dbfa10b567e4c70"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f40c99c5494b4bb3" /><Relationship Type="http://schemas.openxmlformats.org/officeDocument/2006/relationships/image" Target="/ppt/media/image.jpeg" Id="R6713c3ac172f42e7" /><Relationship Type="http://schemas.openxmlformats.org/officeDocument/2006/relationships/notesSlide" Target="/ppt/notesSlides/notesSlide2.xml" Id="Rb907942136fc4fb0"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55ea13ad926845b0" /><Relationship Type="http://schemas.openxmlformats.org/officeDocument/2006/relationships/image" Target="/ppt/media/image2.jpeg" Id="R3e0acc5e40e045fc" /><Relationship Type="http://schemas.openxmlformats.org/officeDocument/2006/relationships/notesSlide" Target="/ppt/notesSlides/notesSlide3.xml" Id="R9b21fc1e43ce449e"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0ed6d731b1584c83" /><Relationship Type="http://schemas.openxmlformats.org/officeDocument/2006/relationships/image" Target="/ppt/media/image3.jpeg" Id="R907a7d6f62dc4cfd" /><Relationship Type="http://schemas.openxmlformats.org/officeDocument/2006/relationships/notesSlide" Target="/ppt/notesSlides/notesSlide4.xml" Id="Re14f47b078974bf9"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5432ca3896224c91" /><Relationship Type="http://schemas.openxmlformats.org/officeDocument/2006/relationships/notesSlide" Target="/ppt/notesSlides/notesSlide5.xml" Id="R0ef5a61099d043f1"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aff58fd89e2646b1" /><Relationship Type="http://schemas.openxmlformats.org/officeDocument/2006/relationships/notesSlide" Target="/ppt/notesSlides/notesSlide6.xml" Id="Ree0d8776341842fe" /></Relationships>
</file>

<file path=ppt/slides/slide1.xml><?xml version="1.0" encoding="utf-8"?>
<p:sld xmlns:p="http://schemas.openxmlformats.org/presentationml/2006/main">
  <p:cSld>
    <p:bg>
      <p:bgPr>
        <a:solidFill xmlns:a="http://schemas.openxmlformats.org/drawingml/2006/main">
          <a:srgbClr val="FFF9F1"/>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e137e1b10e09419f"/>
          <a:srcRect xmlns:a="http://schemas.openxmlformats.org/drawingml/2006/main" l="0" t="7813" r="0" b="7813"/>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cover-kicker">
            <a:extLst xmlns:a="http://schemas.openxmlformats.org/drawingml/2006/main">
              <a:ext uri="{FF2B5EF4-FFF2-40B4-BE49-F238E27FC236}">
                <a16:creationId xmlns:a16="http://schemas.microsoft.com/office/drawing/2014/main" id="{AD822DA4-8041-43CA-AC21-4775F1697738}"/>
              </a:ext>
            </a:extLst>
          </p:cNvPr>
          <p:cNvSpPr>
            <a:spLocks xmlns:a="http://schemas.openxmlformats.org/drawingml/2006/main" noGrp="1"/>
          </p:cNvSpPr>
          <p:nvPr/>
        </p:nvSpPr>
        <p:spPr>
          <a:xfrm xmlns:a="http://schemas.openxmlformats.org/drawingml/2006/main">
            <a:off x="628650" y="609600"/>
            <a:ext cx="3619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1">
                <a:solidFill>
                  <a:srgbClr val="6F527F"/>
                </a:solidFill>
                <a:latin typeface="Arial"/>
                <a:ea typeface="Arial"/>
                <a:cs typeface="Arial"/>
              </a:defRPr>
            </a:pPr>
            <a:r>
              <a:rPr sz="1350" b="1">
                <a:solidFill>
                  <a:srgbClr val="6F527F"/>
                </a:solidFill>
                <a:latin typeface="Arial"/>
                <a:ea typeface="Arial"/>
                <a:cs typeface="Arial"/>
              </a:rPr>
              <a:t>ENGINEER’S PITCH</a:t>
            </a:r>
          </a:p>
        </p:txBody>
      </p:sp>
      <p:sp>
        <p:nvSpPr>
          <p:cNvPr id="3" name="cover-title">
            <a:extLst xmlns:a="http://schemas.openxmlformats.org/drawingml/2006/main">
              <a:ext uri="{FF2B5EF4-FFF2-40B4-BE49-F238E27FC236}">
                <a16:creationId xmlns:a16="http://schemas.microsoft.com/office/drawing/2014/main" id="{553AA98C-4967-4F01-A2FF-B8FA59C9D35C}"/>
              </a:ext>
            </a:extLst>
          </p:cNvPr>
          <p:cNvSpPr>
            <a:spLocks xmlns:a="http://schemas.openxmlformats.org/drawingml/2006/main" noGrp="1"/>
          </p:cNvSpPr>
          <p:nvPr/>
        </p:nvSpPr>
        <p:spPr>
          <a:xfrm xmlns:a="http://schemas.openxmlformats.org/drawingml/2006/main">
            <a:off x="590550" y="1476375"/>
            <a:ext cx="47625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4950" b="1">
                <a:solidFill>
                  <a:srgbClr val="3B234D"/>
                </a:solidFill>
                <a:latin typeface="Arial"/>
                <a:ea typeface="Arial"/>
                <a:cs typeface="Arial"/>
              </a:defRPr>
            </a:pPr>
            <a:r>
              <a:rPr sz="4950" b="1">
                <a:solidFill>
                  <a:srgbClr val="3B234D"/>
                </a:solidFill>
                <a:latin typeface="Arial"/>
                <a:ea typeface="Arial"/>
                <a:cs typeface="Arial"/>
              </a:rPr>
              <a:t>PawPal+</a:t>
            </a:r>
          </a:p>
        </p:txBody>
      </p:sp>
      <p:sp>
        <p:nvSpPr>
          <p:cNvPr id="4" name="cover-subtitle">
            <a:extLst xmlns:a="http://schemas.openxmlformats.org/drawingml/2006/main">
              <a:ext uri="{FF2B5EF4-FFF2-40B4-BE49-F238E27FC236}">
                <a16:creationId xmlns:a16="http://schemas.microsoft.com/office/drawing/2014/main" id="{E3E38A1A-EE1C-4846-9C45-B38B9EDDBF6E}"/>
              </a:ext>
            </a:extLst>
          </p:cNvPr>
          <p:cNvSpPr>
            <a:spLocks xmlns:a="http://schemas.openxmlformats.org/drawingml/2006/main" noGrp="1"/>
          </p:cNvSpPr>
          <p:nvPr/>
        </p:nvSpPr>
        <p:spPr>
          <a:xfrm xmlns:a="http://schemas.openxmlformats.org/drawingml/2006/main">
            <a:off x="628650" y="2571750"/>
            <a:ext cx="4905375"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325" b="1">
                <a:solidFill>
                  <a:srgbClr val="2B2630"/>
                </a:solidFill>
                <a:latin typeface="Arial"/>
                <a:ea typeface="Arial"/>
                <a:cs typeface="Arial"/>
              </a:defRPr>
            </a:pPr>
            <a:r>
              <a:rPr sz="2325" b="1">
                <a:solidFill>
                  <a:srgbClr val="2B2630"/>
                </a:solidFill>
                <a:latin typeface="Arial"/>
                <a:ea typeface="Arial"/>
                <a:cs typeface="Arial"/>
              </a:rPr>
              <a:t>Pet-care planning that is</a:t>
            </a:r>
          </a:p>
          <a:p xmlns:a="http://schemas.openxmlformats.org/drawingml/2006/main">
            <a:pPr algn="l">
              <a:defRPr sz="2325" b="1">
                <a:solidFill>
                  <a:srgbClr val="2B2630"/>
                </a:solidFill>
                <a:latin typeface="Arial"/>
                <a:ea typeface="Arial"/>
                <a:cs typeface="Arial"/>
              </a:defRPr>
            </a:pPr>
            <a:r>
              <a:rPr sz="2325" b="1">
                <a:solidFill>
                  <a:srgbClr val="2B2630"/>
                </a:solidFill>
                <a:latin typeface="Arial"/>
                <a:ea typeface="Arial"/>
                <a:cs typeface="Arial"/>
              </a:rPr>
              <a:t>predictable, grounded, and safer.</a:t>
            </a:r>
          </a:p>
        </p:txBody>
      </p:sp>
      <p:sp>
        <p:nvSpPr>
          <p:cNvPr id="5" name="cover-detail">
            <a:extLst xmlns:a="http://schemas.openxmlformats.org/drawingml/2006/main">
              <a:ext uri="{FF2B5EF4-FFF2-40B4-BE49-F238E27FC236}">
                <a16:creationId xmlns:a16="http://schemas.microsoft.com/office/drawing/2014/main" id="{DF0CB62C-D8F4-4950-AEE4-5EA7ECA0D4E2}"/>
              </a:ext>
            </a:extLst>
          </p:cNvPr>
          <p:cNvSpPr>
            <a:spLocks xmlns:a="http://schemas.openxmlformats.org/drawingml/2006/main" noGrp="1"/>
          </p:cNvSpPr>
          <p:nvPr/>
        </p:nvSpPr>
        <p:spPr>
          <a:xfrm xmlns:a="http://schemas.openxmlformats.org/drawingml/2006/main">
            <a:off x="628650" y="4095750"/>
            <a:ext cx="500062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6D6570"/>
                </a:solidFill>
                <a:latin typeface="Arial"/>
                <a:ea typeface="Arial"/>
                <a:cs typeface="Arial"/>
              </a:defRPr>
            </a:pPr>
            <a:r>
              <a:rPr sz="1350" b="0">
                <a:solidFill>
                  <a:srgbClr val="6D6570"/>
                </a:solidFill>
                <a:latin typeface="Arial"/>
                <a:ea typeface="Arial"/>
                <a:cs typeface="Arial"/>
              </a:rPr>
              <a:t>Applied AI final project  •  Python  •  RAG  •  Claude</a:t>
            </a:r>
          </a:p>
        </p:txBody>
      </p:sp>
      <p:sp>
        <p:nvSpPr>
          <p:cNvPr id="6" name="cover-name">
            <a:extLst xmlns:a="http://schemas.openxmlformats.org/drawingml/2006/main">
              <a:ext uri="{FF2B5EF4-FFF2-40B4-BE49-F238E27FC236}">
                <a16:creationId xmlns:a16="http://schemas.microsoft.com/office/drawing/2014/main" id="{5CA7DFD3-7895-4820-85AC-4AD4372FA29F}"/>
              </a:ext>
            </a:extLst>
          </p:cNvPr>
          <p:cNvSpPr>
            <a:spLocks xmlns:a="http://schemas.openxmlformats.org/drawingml/2006/main" noGrp="1"/>
          </p:cNvSpPr>
          <p:nvPr/>
        </p:nvSpPr>
        <p:spPr>
          <a:xfrm xmlns:a="http://schemas.openxmlformats.org/drawingml/2006/main">
            <a:off x="628650" y="5857875"/>
            <a:ext cx="3429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1">
                <a:solidFill>
                  <a:srgbClr val="3B234D"/>
                </a:solidFill>
                <a:latin typeface="Arial"/>
                <a:ea typeface="Arial"/>
                <a:cs typeface="Arial"/>
              </a:defRPr>
            </a:pPr>
            <a:r>
              <a:rPr sz="1500" b="1">
                <a:solidFill>
                  <a:srgbClr val="3B234D"/>
                </a:solidFill>
                <a:latin typeface="Arial"/>
                <a:ea typeface="Arial"/>
                <a:cs typeface="Arial"/>
              </a:rPr>
              <a:t>Hemaleka Mohanram</a:t>
            </a:r>
          </a:p>
        </p:txBody>
      </p:sp>
    </p:spTree>
    <p:extLst>
      <p:ext uri="{BB962C8B-B14F-4D97-AF65-F5344CB8AC3E}">
        <p14:creationId xmlns:p14="http://schemas.microsoft.com/office/powerpoint/2010/main" val="1912363014"/>
      </p:ext>
    </p:extLst>
  </p:cSld>
</p:sld>
</file>

<file path=ppt/slides/slide2.xml><?xml version="1.0" encoding="utf-8"?>
<p:sld xmlns:p="http://schemas.openxmlformats.org/presentationml/2006/main">
  <p:cSld>
    <p:bg>
      <p:bgPr>
        <a:solidFill xmlns:a="http://schemas.openxmlformats.org/drawingml/2006/main">
          <a:srgbClr val="FFF9F1"/>
        </a:solidFill>
      </p:bgPr>
    </p:bg>
    <p:spTree>
      <p:nvGrpSpPr>
        <p:cNvPr id="1" name=""/>
        <p:cNvGrpSpPr/>
        <p:nvPr/>
      </p:nvGrpSpPr>
      <p:grpSpPr>
        <a:xfrm xmlns:a="http://schemas.openxmlformats.org/drawingml/2006/main"/>
      </p:grpSpPr>
      <p:sp>
        <p:nvSpPr>
          <p:cNvPr id="9" name="problem-kicker">
            <a:extLst xmlns:a="http://schemas.openxmlformats.org/drawingml/2006/main">
              <a:ext uri="{FF2B5EF4-FFF2-40B4-BE49-F238E27FC236}">
                <a16:creationId xmlns:a16="http://schemas.microsoft.com/office/drawing/2014/main" id="{072CA00C-3FA6-4CDC-9391-863F6BB0CAD5}"/>
              </a:ext>
            </a:extLst>
          </p:cNvPr>
          <p:cNvSpPr>
            <a:spLocks xmlns:a="http://schemas.openxmlformats.org/drawingml/2006/main" noGrp="1"/>
          </p:cNvSpPr>
          <p:nvPr/>
        </p:nvSpPr>
        <p:spPr>
          <a:xfrm xmlns:a="http://schemas.openxmlformats.org/drawingml/2006/main">
            <a:off x="628650" y="495300"/>
            <a:ext cx="2667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75" b="1">
                <a:solidFill>
                  <a:srgbClr val="E98777"/>
                </a:solidFill>
                <a:latin typeface="Arial"/>
                <a:ea typeface="Arial"/>
                <a:cs typeface="Arial"/>
              </a:defRPr>
            </a:pPr>
            <a:r>
              <a:rPr sz="1275" b="1">
                <a:solidFill>
                  <a:srgbClr val="E98777"/>
                </a:solidFill>
                <a:latin typeface="Arial"/>
                <a:ea typeface="Arial"/>
                <a:cs typeface="Arial"/>
              </a:rPr>
              <a:t>THE PROBLEM</a:t>
            </a:r>
          </a:p>
        </p:txBody>
      </p:sp>
      <p:sp>
        <p:nvSpPr>
          <p:cNvPr id="2" name="problem-title">
            <a:extLst xmlns:a="http://schemas.openxmlformats.org/drawingml/2006/main">
              <a:ext uri="{FF2B5EF4-FFF2-40B4-BE49-F238E27FC236}">
                <a16:creationId xmlns:a16="http://schemas.microsoft.com/office/drawing/2014/main" id="{6A353D4D-121D-44B9-86A0-2BDEF7DEEDA0}"/>
              </a:ext>
            </a:extLst>
          </p:cNvPr>
          <p:cNvSpPr>
            <a:spLocks xmlns:a="http://schemas.openxmlformats.org/drawingml/2006/main" noGrp="1"/>
          </p:cNvSpPr>
          <p:nvPr/>
        </p:nvSpPr>
        <p:spPr>
          <a:xfrm xmlns:a="http://schemas.openxmlformats.org/drawingml/2006/main">
            <a:off x="628650" y="1009650"/>
            <a:ext cx="62865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3225" b="1">
                <a:solidFill>
                  <a:srgbClr val="3B234D"/>
                </a:solidFill>
                <a:latin typeface="Arial"/>
                <a:ea typeface="Arial"/>
                <a:cs typeface="Arial"/>
              </a:defRPr>
            </a:pPr>
            <a:r>
              <a:rPr sz="3225" b="1">
                <a:solidFill>
                  <a:srgbClr val="3B234D"/>
                </a:solidFill>
                <a:latin typeface="Arial"/>
                <a:ea typeface="Arial"/>
                <a:cs typeface="Arial"/>
              </a:rPr>
              <a:t>Pet owners need a plan,</a:t>
            </a:r>
          </a:p>
          <a:p xmlns:a="http://schemas.openxmlformats.org/drawingml/2006/main">
            <a:pPr algn="l">
              <a:defRPr sz="3225" b="1">
                <a:solidFill>
                  <a:srgbClr val="3B234D"/>
                </a:solidFill>
                <a:latin typeface="Arial"/>
                <a:ea typeface="Arial"/>
                <a:cs typeface="Arial"/>
              </a:defRPr>
            </a:pPr>
            <a:r>
              <a:rPr sz="3225" b="1">
                <a:solidFill>
                  <a:srgbClr val="3B234D"/>
                </a:solidFill>
                <a:latin typeface="Arial"/>
                <a:ea typeface="Arial"/>
                <a:cs typeface="Arial"/>
              </a:rPr>
              <a:t>not another generic chatbot.</a:t>
            </a:r>
          </a:p>
        </p:txBody>
      </p:sp>
      <p:sp>
        <p:nvSpPr>
          <p:cNvPr id="3" name="problem-body">
            <a:extLst xmlns:a="http://schemas.openxmlformats.org/drawingml/2006/main">
              <a:ext uri="{FF2B5EF4-FFF2-40B4-BE49-F238E27FC236}">
                <a16:creationId xmlns:a16="http://schemas.microsoft.com/office/drawing/2014/main" id="{2EBBFD34-B5CD-48FF-A2B0-2BD43C45401E}"/>
              </a:ext>
            </a:extLst>
          </p:cNvPr>
          <p:cNvSpPr>
            <a:spLocks xmlns:a="http://schemas.openxmlformats.org/drawingml/2006/main" noGrp="1"/>
          </p:cNvSpPr>
          <p:nvPr/>
        </p:nvSpPr>
        <p:spPr>
          <a:xfrm xmlns:a="http://schemas.openxmlformats.org/drawingml/2006/main">
            <a:off x="647700" y="2571750"/>
            <a:ext cx="5715000" cy="1285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725" b="0">
                <a:solidFill>
                  <a:srgbClr val="2B2630"/>
                </a:solidFill>
                <a:latin typeface="Arial"/>
                <a:ea typeface="Arial"/>
                <a:cs typeface="Arial"/>
              </a:defRPr>
            </a:pPr>
            <a:r>
              <a:rPr sz="1725" b="0">
                <a:solidFill>
                  <a:srgbClr val="2B2630"/>
                </a:solidFill>
                <a:latin typeface="Arial"/>
                <a:ea typeface="Arial"/>
                <a:cs typeface="Arial"/>
              </a:rPr>
              <a:t>Walks, feeding, medication, grooming, and appointments compete for limited time. The first challenge is deciding what matters today—and what actually fits.</a:t>
            </a:r>
          </a:p>
        </p:txBody>
      </p:sp>
      <p:cxnSp>
        <p:nvCxnSpPr>
          <p:cNvPr id="12" name="problem-rule"/>
          <p:cNvCxnSpPr/>
          <p:nvPr/>
        </p:nvCxnSpPr>
        <p:spPr>
          <a:xfrm xmlns:a="http://schemas.openxmlformats.org/drawingml/2006/main">
            <a:off x="647700" y="4143375"/>
            <a:ext cx="5238750" cy="95"/>
          </a:xfrm>
          <a:prstGeom xmlns:a="http://schemas.openxmlformats.org/drawingml/2006/main" prst="straightConnector1">
            <a:avLst/>
          </a:prstGeom>
          <a:ln xmlns:a="http://schemas.openxmlformats.org/drawingml/2006/main" w="38100">
            <a:solidFill>
              <a:srgbClr val="E98777"/>
            </a:solidFill>
            <a:prstDash val="solid"/>
          </a:ln>
        </p:spPr>
      </p:cxnSp>
      <p:sp>
        <p:nvSpPr>
          <p:cNvPr id="5" name="problem-answer">
            <a:extLst xmlns:a="http://schemas.openxmlformats.org/drawingml/2006/main">
              <a:ext uri="{FF2B5EF4-FFF2-40B4-BE49-F238E27FC236}">
                <a16:creationId xmlns:a16="http://schemas.microsoft.com/office/drawing/2014/main" id="{B647E1E2-825C-4E83-B9D1-79586923A5FC}"/>
              </a:ext>
            </a:extLst>
          </p:cNvPr>
          <p:cNvSpPr>
            <a:spLocks xmlns:a="http://schemas.openxmlformats.org/drawingml/2006/main" noGrp="1"/>
          </p:cNvSpPr>
          <p:nvPr/>
        </p:nvSpPr>
        <p:spPr>
          <a:xfrm xmlns:a="http://schemas.openxmlformats.org/drawingml/2006/main">
            <a:off x="647700" y="4429125"/>
            <a:ext cx="571500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00" b="1">
                <a:solidFill>
                  <a:srgbClr val="2F6B57"/>
                </a:solidFill>
                <a:latin typeface="Arial"/>
                <a:ea typeface="Arial"/>
                <a:cs typeface="Arial"/>
              </a:defRPr>
            </a:pPr>
            <a:r>
              <a:rPr sz="1800" b="1">
                <a:solidFill>
                  <a:srgbClr val="2F6B57"/>
                </a:solidFill>
                <a:latin typeface="Arial"/>
                <a:ea typeface="Arial"/>
                <a:cs typeface="Arial"/>
              </a:rPr>
              <a:t>PawPal keeps scheduling deterministic, then uses AI only to explain the real plan with retrieved care guidance.</a:t>
            </a:r>
          </a:p>
        </p:txBody>
      </p:sp>
      <p:pic>
        <p:nvPicPr>
          <p:cNvPr id="14" name=""/>
          <p:cNvPicPr>
            <a:picLocks xmlns:a="http://schemas.openxmlformats.org/drawingml/2006/main" noChangeAspect="1"/>
          </p:cNvPicPr>
          <p:nvPr/>
        </p:nvPicPr>
        <p:blipFill>
          <a:blip xmlns:r="http://schemas.openxmlformats.org/officeDocument/2006/relationships" xmlns:a="http://schemas.openxmlformats.org/drawingml/2006/main" r:embed="R6713c3ac172f42e7"/>
          <a:srcRect xmlns:a="http://schemas.openxmlformats.org/drawingml/2006/main" l="830" t="0" r="830" b="0"/>
          <a:stretch xmlns:a="http://schemas.openxmlformats.org/drawingml/2006/main">
            <a:fillRect l="0" t="0" r="0" b="0"/>
          </a:stretch>
        </p:blipFill>
        <p:spPr>
          <a:xfrm xmlns:a="http://schemas.openxmlformats.org/drawingml/2006/main">
            <a:off x="7239000" y="704850"/>
            <a:ext cx="4000500" cy="5334000"/>
          </a:xfrm>
          <a:prstGeom xmlns:a="http://schemas.openxmlformats.org/drawingml/2006/main" prst="roundRect">
            <a:avLst>
              <a:gd name="adj" fmla="val 5238"/>
            </a:avLst>
          </a:prstGeom>
        </p:spPr>
      </p:pic>
      <p:sp>
        <p:nvSpPr>
          <p:cNvPr id="7" name="footer-brand-2">
            <a:extLst xmlns:a="http://schemas.openxmlformats.org/drawingml/2006/main">
              <a:ext uri="{FF2B5EF4-FFF2-40B4-BE49-F238E27FC236}">
                <a16:creationId xmlns:a16="http://schemas.microsoft.com/office/drawing/2014/main" id="{80EE2F08-994A-4D6A-846C-6A887FDCD593}"/>
              </a:ext>
            </a:extLst>
          </p:cNvPr>
          <p:cNvSpPr>
            <a:spLocks xmlns:a="http://schemas.openxmlformats.org/drawingml/2006/main" noGrp="1"/>
          </p:cNvSpPr>
          <p:nvPr/>
        </p:nvSpPr>
        <p:spPr>
          <a:xfrm xmlns:a="http://schemas.openxmlformats.org/drawingml/2006/main">
            <a:off x="609600" y="6362700"/>
            <a:ext cx="1524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75" b="1">
                <a:solidFill>
                  <a:srgbClr val="6F527F"/>
                </a:solidFill>
                <a:latin typeface="Arial"/>
                <a:ea typeface="Arial"/>
                <a:cs typeface="Arial"/>
              </a:defRPr>
            </a:pPr>
            <a:r>
              <a:rPr sz="975" b="1">
                <a:solidFill>
                  <a:srgbClr val="6F527F"/>
                </a:solidFill>
                <a:latin typeface="Arial"/>
                <a:ea typeface="Arial"/>
                <a:cs typeface="Arial"/>
              </a:rPr>
              <a:t>PAWPAL+</a:t>
            </a:r>
          </a:p>
        </p:txBody>
      </p:sp>
      <p:sp>
        <p:nvSpPr>
          <p:cNvPr id="8" name="footer-number-2">
            <a:extLst xmlns:a="http://schemas.openxmlformats.org/drawingml/2006/main">
              <a:ext uri="{FF2B5EF4-FFF2-40B4-BE49-F238E27FC236}">
                <a16:creationId xmlns:a16="http://schemas.microsoft.com/office/drawing/2014/main" id="{1383799C-A89B-4F56-88D0-5B7F1224B107}"/>
              </a:ext>
            </a:extLst>
          </p:cNvPr>
          <p:cNvSpPr>
            <a:spLocks xmlns:a="http://schemas.openxmlformats.org/drawingml/2006/main" noGrp="1"/>
          </p:cNvSpPr>
          <p:nvPr/>
        </p:nvSpPr>
        <p:spPr>
          <a:xfrm xmlns:a="http://schemas.openxmlformats.org/drawingml/2006/main">
            <a:off x="11334750" y="6362700"/>
            <a:ext cx="2667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75" b="1">
                <a:solidFill>
                  <a:srgbClr val="6F527F"/>
                </a:solidFill>
                <a:latin typeface="Arial"/>
                <a:ea typeface="Arial"/>
                <a:cs typeface="Arial"/>
              </a:defRPr>
            </a:pPr>
            <a:r>
              <a:rPr sz="975" b="1">
                <a:solidFill>
                  <a:srgbClr val="6F527F"/>
                </a:solidFill>
                <a:latin typeface="Arial"/>
                <a:ea typeface="Arial"/>
                <a:cs typeface="Arial"/>
              </a:rPr>
              <a:t>2</a:t>
            </a:r>
          </a:p>
        </p:txBody>
      </p:sp>
    </p:spTree>
    <p:extLst>
      <p:ext uri="{BB962C8B-B14F-4D97-AF65-F5344CB8AC3E}">
        <p14:creationId xmlns:p14="http://schemas.microsoft.com/office/powerpoint/2010/main" val="1838368495"/>
      </p:ext>
    </p:extLst>
  </p:cSld>
</p:sld>
</file>

<file path=ppt/slides/slide3.xml><?xml version="1.0" encoding="utf-8"?>
<p:sld xmlns:p="http://schemas.openxmlformats.org/presentationml/2006/main">
  <p:cSld>
    <p:bg>
      <p:bgPr>
        <a:solidFill xmlns:a="http://schemas.openxmlformats.org/drawingml/2006/main">
          <a:srgbClr val="3B234D"/>
        </a:solidFill>
      </p:bgPr>
    </p:bg>
    <p:spTree>
      <p:nvGrpSpPr>
        <p:cNvPr id="1" name=""/>
        <p:cNvGrpSpPr/>
        <p:nvPr/>
      </p:nvGrpSpPr>
      <p:grpSpPr>
        <a:xfrm xmlns:a="http://schemas.openxmlformats.org/drawingml/2006/main"/>
      </p:grpSpPr>
      <p:sp>
        <p:nvSpPr>
          <p:cNvPr id="21" name="logic-kicker">
            <a:extLst xmlns:a="http://schemas.openxmlformats.org/drawingml/2006/main">
              <a:ext uri="{FF2B5EF4-FFF2-40B4-BE49-F238E27FC236}">
                <a16:creationId xmlns:a16="http://schemas.microsoft.com/office/drawing/2014/main" id="{9480C20B-E138-48A5-BD0F-0EC6895E29FB}"/>
              </a:ext>
            </a:extLst>
          </p:cNvPr>
          <p:cNvSpPr>
            <a:spLocks xmlns:a="http://schemas.openxmlformats.org/drawingml/2006/main" noGrp="1"/>
          </p:cNvSpPr>
          <p:nvPr/>
        </p:nvSpPr>
        <p:spPr>
          <a:xfrm xmlns:a="http://schemas.openxmlformats.org/drawingml/2006/main">
            <a:off x="628650" y="495300"/>
            <a:ext cx="2286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75" b="1">
                <a:solidFill>
                  <a:srgbClr val="E98777"/>
                </a:solidFill>
                <a:latin typeface="Arial"/>
                <a:ea typeface="Arial"/>
                <a:cs typeface="Arial"/>
              </a:defRPr>
            </a:pPr>
            <a:r>
              <a:rPr sz="1275" b="1">
                <a:solidFill>
                  <a:srgbClr val="E98777"/>
                </a:solidFill>
                <a:latin typeface="Arial"/>
                <a:ea typeface="Arial"/>
                <a:cs typeface="Arial"/>
              </a:rPr>
              <a:t>THE LOGIC</a:t>
            </a:r>
          </a:p>
        </p:txBody>
      </p:sp>
      <p:sp>
        <p:nvSpPr>
          <p:cNvPr id="2" name="logic-title">
            <a:extLst xmlns:a="http://schemas.openxmlformats.org/drawingml/2006/main">
              <a:ext uri="{FF2B5EF4-FFF2-40B4-BE49-F238E27FC236}">
                <a16:creationId xmlns:a16="http://schemas.microsoft.com/office/drawing/2014/main" id="{2F457BB1-8E79-4361-8361-44B2630A6924}"/>
              </a:ext>
            </a:extLst>
          </p:cNvPr>
          <p:cNvSpPr>
            <a:spLocks xmlns:a="http://schemas.openxmlformats.org/drawingml/2006/main" noGrp="1"/>
          </p:cNvSpPr>
          <p:nvPr/>
        </p:nvSpPr>
        <p:spPr>
          <a:xfrm xmlns:a="http://schemas.openxmlformats.org/drawingml/2006/main">
            <a:off x="628650" y="981075"/>
            <a:ext cx="7239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3000" b="1">
                <a:solidFill>
                  <a:srgbClr val="FFFFFF"/>
                </a:solidFill>
                <a:latin typeface="Arial"/>
                <a:ea typeface="Arial"/>
                <a:cs typeface="Arial"/>
              </a:defRPr>
            </a:pPr>
            <a:r>
              <a:rPr sz="3000" b="1">
                <a:solidFill>
                  <a:srgbClr val="FFFFFF"/>
                </a:solidFill>
                <a:latin typeface="Arial"/>
                <a:ea typeface="Arial"/>
                <a:cs typeface="Arial"/>
              </a:rPr>
              <a:t>A fixed RAG pipeline keeps the AI inspectable.</a:t>
            </a:r>
          </a:p>
        </p:txBody>
      </p:sp>
      <p:cxnSp>
        <p:nvCxnSpPr>
          <p:cNvPr id="23" name="logic-connector-1"/>
          <p:cNvCxnSpPr/>
          <p:nvPr/>
        </p:nvCxnSpPr>
        <p:spPr>
          <a:xfrm xmlns:a="http://schemas.openxmlformats.org/drawingml/2006/main">
            <a:off x="1695450" y="3009900"/>
            <a:ext cx="1885950" cy="95"/>
          </a:xfrm>
          <a:prstGeom xmlns:a="http://schemas.openxmlformats.org/drawingml/2006/main" prst="straightConnector1">
            <a:avLst/>
          </a:prstGeom>
          <a:ln xmlns:a="http://schemas.openxmlformats.org/drawingml/2006/main" w="38100">
            <a:solidFill>
              <a:srgbClr val="D7C2E3"/>
            </a:solidFill>
            <a:prstDash val="solid"/>
          </a:ln>
        </p:spPr>
      </p:cxnSp>
      <p:cxnSp>
        <p:nvCxnSpPr>
          <p:cNvPr id="24" name="logic-connector-2"/>
          <p:cNvCxnSpPr/>
          <p:nvPr/>
        </p:nvCxnSpPr>
        <p:spPr>
          <a:xfrm xmlns:a="http://schemas.openxmlformats.org/drawingml/2006/main">
            <a:off x="4095750" y="3009900"/>
            <a:ext cx="1885950" cy="95"/>
          </a:xfrm>
          <a:prstGeom xmlns:a="http://schemas.openxmlformats.org/drawingml/2006/main" prst="straightConnector1">
            <a:avLst/>
          </a:prstGeom>
          <a:ln xmlns:a="http://schemas.openxmlformats.org/drawingml/2006/main" w="38100">
            <a:solidFill>
              <a:srgbClr val="D7C2E3"/>
            </a:solidFill>
            <a:prstDash val="solid"/>
          </a:ln>
        </p:spPr>
      </p:cxnSp>
      <p:sp>
        <p:nvSpPr>
          <p:cNvPr id="5" name="logic-node-01">
            <a:extLst xmlns:a="http://schemas.openxmlformats.org/drawingml/2006/main">
              <a:ext uri="{FF2B5EF4-FFF2-40B4-BE49-F238E27FC236}">
                <a16:creationId xmlns:a16="http://schemas.microsoft.com/office/drawing/2014/main" id="{0DC6F14E-51DE-4478-B6DB-91846F961879}"/>
              </a:ext>
            </a:extLst>
          </p:cNvPr>
          <p:cNvSpPr>
            <a:spLocks xmlns:a="http://schemas.openxmlformats.org/drawingml/2006/main" noGrp="1"/>
          </p:cNvSpPr>
          <p:nvPr/>
        </p:nvSpPr>
        <p:spPr>
          <a:xfrm xmlns:a="http://schemas.openxmlformats.org/drawingml/2006/main">
            <a:off x="666750" y="2143125"/>
            <a:ext cx="2057400" cy="2333625"/>
          </a:xfrm>
          <a:prstGeom xmlns:a="http://schemas.openxmlformats.org/drawingml/2006/main" prst="roundRect">
            <a:avLst>
              <a:gd name="adj" fmla="val 11111"/>
            </a:avLst>
          </a:prstGeom>
          <a:solidFill xmlns:a="http://schemas.openxmlformats.org/drawingml/2006/main">
            <a:srgbClr val="EFE5F4"/>
          </a:solidFill>
          <a:ln xmlns:a="http://schemas.openxmlformats.org/drawingml/2006/main" w="9525">
            <a:solidFill>
              <a:srgbClr val="D7C2E3"/>
            </a:solidFill>
            <a:prstDash val="solid"/>
          </a:ln>
        </p:spPr>
      </p:sp>
      <p:sp>
        <p:nvSpPr>
          <p:cNvPr id="6" name="logic-number-01">
            <a:extLst xmlns:a="http://schemas.openxmlformats.org/drawingml/2006/main">
              <a:ext uri="{FF2B5EF4-FFF2-40B4-BE49-F238E27FC236}">
                <a16:creationId xmlns:a16="http://schemas.microsoft.com/office/drawing/2014/main" id="{14E43234-D0CC-4FF9-97FA-0899806560A1}"/>
              </a:ext>
            </a:extLst>
          </p:cNvPr>
          <p:cNvSpPr>
            <a:spLocks xmlns:a="http://schemas.openxmlformats.org/drawingml/2006/main" noGrp="1"/>
          </p:cNvSpPr>
          <p:nvPr/>
        </p:nvSpPr>
        <p:spPr>
          <a:xfrm xmlns:a="http://schemas.openxmlformats.org/drawingml/2006/main">
            <a:off x="895350" y="2362200"/>
            <a:ext cx="571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1">
                <a:solidFill>
                  <a:srgbClr val="E98777"/>
                </a:solidFill>
                <a:latin typeface="Arial"/>
                <a:ea typeface="Arial"/>
                <a:cs typeface="Arial"/>
              </a:defRPr>
            </a:pPr>
            <a:r>
              <a:rPr sz="1350" b="1">
                <a:solidFill>
                  <a:srgbClr val="E98777"/>
                </a:solidFill>
                <a:latin typeface="Arial"/>
                <a:ea typeface="Arial"/>
                <a:cs typeface="Arial"/>
              </a:rPr>
              <a:t>01</a:t>
            </a:r>
          </a:p>
        </p:txBody>
      </p:sp>
      <p:sp>
        <p:nvSpPr>
          <p:cNvPr id="7" name="logic-node-title-01">
            <a:extLst xmlns:a="http://schemas.openxmlformats.org/drawingml/2006/main">
              <a:ext uri="{FF2B5EF4-FFF2-40B4-BE49-F238E27FC236}">
                <a16:creationId xmlns:a16="http://schemas.microsoft.com/office/drawing/2014/main" id="{DFAA3492-9AD7-41D0-9574-335A09DFE3E4}"/>
              </a:ext>
            </a:extLst>
          </p:cNvPr>
          <p:cNvSpPr>
            <a:spLocks xmlns:a="http://schemas.openxmlformats.org/drawingml/2006/main" noGrp="1"/>
          </p:cNvSpPr>
          <p:nvPr/>
        </p:nvSpPr>
        <p:spPr>
          <a:xfrm xmlns:a="http://schemas.openxmlformats.org/drawingml/2006/main">
            <a:off x="895350" y="2781300"/>
            <a:ext cx="1619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00" b="1">
                <a:solidFill>
                  <a:srgbClr val="3B234D"/>
                </a:solidFill>
                <a:latin typeface="Arial"/>
                <a:ea typeface="Arial"/>
                <a:cs typeface="Arial"/>
              </a:defRPr>
            </a:pPr>
            <a:r>
              <a:rPr sz="1800" b="1">
                <a:solidFill>
                  <a:srgbClr val="3B234D"/>
                </a:solidFill>
                <a:latin typeface="Arial"/>
                <a:ea typeface="Arial"/>
                <a:cs typeface="Arial"/>
              </a:rPr>
              <a:t>PLAN</a:t>
            </a:r>
          </a:p>
        </p:txBody>
      </p:sp>
      <p:sp>
        <p:nvSpPr>
          <p:cNvPr id="8" name="logic-node-body-01">
            <a:extLst xmlns:a="http://schemas.openxmlformats.org/drawingml/2006/main">
              <a:ext uri="{FF2B5EF4-FFF2-40B4-BE49-F238E27FC236}">
                <a16:creationId xmlns:a16="http://schemas.microsoft.com/office/drawing/2014/main" id="{3D556C88-E764-4D5C-903A-DB84D93D0497}"/>
              </a:ext>
            </a:extLst>
          </p:cNvPr>
          <p:cNvSpPr>
            <a:spLocks xmlns:a="http://schemas.openxmlformats.org/drawingml/2006/main" noGrp="1"/>
          </p:cNvSpPr>
          <p:nvPr/>
        </p:nvSpPr>
        <p:spPr>
          <a:xfrm xmlns:a="http://schemas.openxmlformats.org/drawingml/2006/main">
            <a:off x="895350" y="3286125"/>
            <a:ext cx="1619250" cy="933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75" b="0">
                <a:solidFill>
                  <a:srgbClr val="2B2630"/>
                </a:solidFill>
                <a:latin typeface="Arial"/>
                <a:ea typeface="Arial"/>
                <a:cs typeface="Arial"/>
              </a:defRPr>
            </a:pPr>
            <a:r>
              <a:rPr sz="1275" b="0">
                <a:solidFill>
                  <a:srgbClr val="2B2630"/>
                </a:solidFill>
                <a:latin typeface="Arial"/>
                <a:ea typeface="Arial"/>
                <a:cs typeface="Arial"/>
              </a:rPr>
              <a:t>Python sorts by priority and fits tasks into available time.</a:t>
            </a:r>
          </a:p>
        </p:txBody>
      </p:sp>
      <p:sp>
        <p:nvSpPr>
          <p:cNvPr id="9" name="logic-node-02">
            <a:extLst xmlns:a="http://schemas.openxmlformats.org/drawingml/2006/main">
              <a:ext uri="{FF2B5EF4-FFF2-40B4-BE49-F238E27FC236}">
                <a16:creationId xmlns:a16="http://schemas.microsoft.com/office/drawing/2014/main" id="{EC82AAF9-AAAD-41BC-8BDE-B7635231E381}"/>
              </a:ext>
            </a:extLst>
          </p:cNvPr>
          <p:cNvSpPr>
            <a:spLocks xmlns:a="http://schemas.openxmlformats.org/drawingml/2006/main" noGrp="1"/>
          </p:cNvSpPr>
          <p:nvPr/>
        </p:nvSpPr>
        <p:spPr>
          <a:xfrm xmlns:a="http://schemas.openxmlformats.org/drawingml/2006/main">
            <a:off x="3067050" y="2143125"/>
            <a:ext cx="2057400" cy="2333625"/>
          </a:xfrm>
          <a:prstGeom xmlns:a="http://schemas.openxmlformats.org/drawingml/2006/main" prst="roundRect">
            <a:avLst>
              <a:gd name="adj" fmla="val 11111"/>
            </a:avLst>
          </a:prstGeom>
          <a:solidFill xmlns:a="http://schemas.openxmlformats.org/drawingml/2006/main">
            <a:srgbClr val="EFE5F4"/>
          </a:solidFill>
          <a:ln xmlns:a="http://schemas.openxmlformats.org/drawingml/2006/main" w="9525">
            <a:solidFill>
              <a:srgbClr val="D7C2E3"/>
            </a:solidFill>
            <a:prstDash val="solid"/>
          </a:ln>
        </p:spPr>
      </p:sp>
      <p:sp>
        <p:nvSpPr>
          <p:cNvPr id="10" name="logic-number-02">
            <a:extLst xmlns:a="http://schemas.openxmlformats.org/drawingml/2006/main">
              <a:ext uri="{FF2B5EF4-FFF2-40B4-BE49-F238E27FC236}">
                <a16:creationId xmlns:a16="http://schemas.microsoft.com/office/drawing/2014/main" id="{AB5786F3-15FE-4833-B065-416CF65ADE1D}"/>
              </a:ext>
            </a:extLst>
          </p:cNvPr>
          <p:cNvSpPr>
            <a:spLocks xmlns:a="http://schemas.openxmlformats.org/drawingml/2006/main" noGrp="1"/>
          </p:cNvSpPr>
          <p:nvPr/>
        </p:nvSpPr>
        <p:spPr>
          <a:xfrm xmlns:a="http://schemas.openxmlformats.org/drawingml/2006/main">
            <a:off x="3295650" y="2362200"/>
            <a:ext cx="571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1">
                <a:solidFill>
                  <a:srgbClr val="E98777"/>
                </a:solidFill>
                <a:latin typeface="Arial"/>
                <a:ea typeface="Arial"/>
                <a:cs typeface="Arial"/>
              </a:defRPr>
            </a:pPr>
            <a:r>
              <a:rPr sz="1350" b="1">
                <a:solidFill>
                  <a:srgbClr val="E98777"/>
                </a:solidFill>
                <a:latin typeface="Arial"/>
                <a:ea typeface="Arial"/>
                <a:cs typeface="Arial"/>
              </a:rPr>
              <a:t>02</a:t>
            </a:r>
          </a:p>
        </p:txBody>
      </p:sp>
      <p:sp>
        <p:nvSpPr>
          <p:cNvPr id="11" name="logic-node-title-02">
            <a:extLst xmlns:a="http://schemas.openxmlformats.org/drawingml/2006/main">
              <a:ext uri="{FF2B5EF4-FFF2-40B4-BE49-F238E27FC236}">
                <a16:creationId xmlns:a16="http://schemas.microsoft.com/office/drawing/2014/main" id="{BC9E7851-D496-4753-B050-A407048538B1}"/>
              </a:ext>
            </a:extLst>
          </p:cNvPr>
          <p:cNvSpPr>
            <a:spLocks xmlns:a="http://schemas.openxmlformats.org/drawingml/2006/main" noGrp="1"/>
          </p:cNvSpPr>
          <p:nvPr/>
        </p:nvSpPr>
        <p:spPr>
          <a:xfrm xmlns:a="http://schemas.openxmlformats.org/drawingml/2006/main">
            <a:off x="3295650" y="2781300"/>
            <a:ext cx="1619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00" b="1">
                <a:solidFill>
                  <a:srgbClr val="3B234D"/>
                </a:solidFill>
                <a:latin typeface="Arial"/>
                <a:ea typeface="Arial"/>
                <a:cs typeface="Arial"/>
              </a:defRPr>
            </a:pPr>
            <a:r>
              <a:rPr sz="1800" b="1">
                <a:solidFill>
                  <a:srgbClr val="3B234D"/>
                </a:solidFill>
                <a:latin typeface="Arial"/>
                <a:ea typeface="Arial"/>
                <a:cs typeface="Arial"/>
              </a:rPr>
              <a:t>RETRIEVE</a:t>
            </a:r>
          </a:p>
        </p:txBody>
      </p:sp>
      <p:sp>
        <p:nvSpPr>
          <p:cNvPr id="12" name="logic-node-body-02">
            <a:extLst xmlns:a="http://schemas.openxmlformats.org/drawingml/2006/main">
              <a:ext uri="{FF2B5EF4-FFF2-40B4-BE49-F238E27FC236}">
                <a16:creationId xmlns:a16="http://schemas.microsoft.com/office/drawing/2014/main" id="{ABF7C3D2-EA41-459B-A025-D9E72DEC719D}"/>
              </a:ext>
            </a:extLst>
          </p:cNvPr>
          <p:cNvSpPr>
            <a:spLocks xmlns:a="http://schemas.openxmlformats.org/drawingml/2006/main" noGrp="1"/>
          </p:cNvSpPr>
          <p:nvPr/>
        </p:nvSpPr>
        <p:spPr>
          <a:xfrm xmlns:a="http://schemas.openxmlformats.org/drawingml/2006/main">
            <a:off x="3295650" y="3286125"/>
            <a:ext cx="1619250" cy="933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75" b="0">
                <a:solidFill>
                  <a:srgbClr val="2B2630"/>
                </a:solidFill>
                <a:latin typeface="Arial"/>
                <a:ea typeface="Arial"/>
                <a:cs typeface="Arial"/>
              </a:defRPr>
            </a:pPr>
            <a:r>
              <a:rPr sz="1275" b="0">
                <a:solidFill>
                  <a:srgbClr val="2B2630"/>
                </a:solidFill>
                <a:latin typeface="Arial"/>
                <a:ea typeface="Arial"/>
                <a:cs typeface="Arial"/>
              </a:rPr>
              <a:t>Local passages are filtered by species and ranked by relevance.</a:t>
            </a:r>
          </a:p>
        </p:txBody>
      </p:sp>
      <p:sp>
        <p:nvSpPr>
          <p:cNvPr id="13" name="logic-node-03">
            <a:extLst xmlns:a="http://schemas.openxmlformats.org/drawingml/2006/main">
              <a:ext uri="{FF2B5EF4-FFF2-40B4-BE49-F238E27FC236}">
                <a16:creationId xmlns:a16="http://schemas.microsoft.com/office/drawing/2014/main" id="{5053E106-DA2B-4432-AD58-861C77018B50}"/>
              </a:ext>
            </a:extLst>
          </p:cNvPr>
          <p:cNvSpPr>
            <a:spLocks xmlns:a="http://schemas.openxmlformats.org/drawingml/2006/main" noGrp="1"/>
          </p:cNvSpPr>
          <p:nvPr/>
        </p:nvSpPr>
        <p:spPr>
          <a:xfrm xmlns:a="http://schemas.openxmlformats.org/drawingml/2006/main">
            <a:off x="5467350" y="2143125"/>
            <a:ext cx="2057400" cy="2333625"/>
          </a:xfrm>
          <a:prstGeom xmlns:a="http://schemas.openxmlformats.org/drawingml/2006/main" prst="roundRect">
            <a:avLst>
              <a:gd name="adj" fmla="val 11111"/>
            </a:avLst>
          </a:prstGeom>
          <a:solidFill xmlns:a="http://schemas.openxmlformats.org/drawingml/2006/main">
            <a:srgbClr val="EFE5F4"/>
          </a:solidFill>
          <a:ln xmlns:a="http://schemas.openxmlformats.org/drawingml/2006/main" w="9525">
            <a:solidFill>
              <a:srgbClr val="D7C2E3"/>
            </a:solidFill>
            <a:prstDash val="solid"/>
          </a:ln>
        </p:spPr>
      </p:sp>
      <p:sp>
        <p:nvSpPr>
          <p:cNvPr id="14" name="logic-number-03">
            <a:extLst xmlns:a="http://schemas.openxmlformats.org/drawingml/2006/main">
              <a:ext uri="{FF2B5EF4-FFF2-40B4-BE49-F238E27FC236}">
                <a16:creationId xmlns:a16="http://schemas.microsoft.com/office/drawing/2014/main" id="{B63824E3-117B-4777-8216-5CBBB2ED8749}"/>
              </a:ext>
            </a:extLst>
          </p:cNvPr>
          <p:cNvSpPr>
            <a:spLocks xmlns:a="http://schemas.openxmlformats.org/drawingml/2006/main" noGrp="1"/>
          </p:cNvSpPr>
          <p:nvPr/>
        </p:nvSpPr>
        <p:spPr>
          <a:xfrm xmlns:a="http://schemas.openxmlformats.org/drawingml/2006/main">
            <a:off x="5695950" y="2362200"/>
            <a:ext cx="571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1">
                <a:solidFill>
                  <a:srgbClr val="E98777"/>
                </a:solidFill>
                <a:latin typeface="Arial"/>
                <a:ea typeface="Arial"/>
                <a:cs typeface="Arial"/>
              </a:defRPr>
            </a:pPr>
            <a:r>
              <a:rPr sz="1350" b="1">
                <a:solidFill>
                  <a:srgbClr val="E98777"/>
                </a:solidFill>
                <a:latin typeface="Arial"/>
                <a:ea typeface="Arial"/>
                <a:cs typeface="Arial"/>
              </a:rPr>
              <a:t>03</a:t>
            </a:r>
          </a:p>
        </p:txBody>
      </p:sp>
      <p:sp>
        <p:nvSpPr>
          <p:cNvPr id="15" name="logic-node-title-03">
            <a:extLst xmlns:a="http://schemas.openxmlformats.org/drawingml/2006/main">
              <a:ext uri="{FF2B5EF4-FFF2-40B4-BE49-F238E27FC236}">
                <a16:creationId xmlns:a16="http://schemas.microsoft.com/office/drawing/2014/main" id="{83C38CA8-30AB-4187-8122-E6CA0451D5BB}"/>
              </a:ext>
            </a:extLst>
          </p:cNvPr>
          <p:cNvSpPr>
            <a:spLocks xmlns:a="http://schemas.openxmlformats.org/drawingml/2006/main" noGrp="1"/>
          </p:cNvSpPr>
          <p:nvPr/>
        </p:nvSpPr>
        <p:spPr>
          <a:xfrm xmlns:a="http://schemas.openxmlformats.org/drawingml/2006/main">
            <a:off x="5695950" y="2781300"/>
            <a:ext cx="1619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00" b="1">
                <a:solidFill>
                  <a:srgbClr val="3B234D"/>
                </a:solidFill>
                <a:latin typeface="Arial"/>
                <a:ea typeface="Arial"/>
                <a:cs typeface="Arial"/>
              </a:defRPr>
            </a:pPr>
            <a:r>
              <a:rPr sz="1800" b="1">
                <a:solidFill>
                  <a:srgbClr val="3B234D"/>
                </a:solidFill>
                <a:latin typeface="Arial"/>
                <a:ea typeface="Arial"/>
                <a:cs typeface="Arial"/>
              </a:rPr>
              <a:t>EXPLAIN</a:t>
            </a:r>
          </a:p>
        </p:txBody>
      </p:sp>
      <p:sp>
        <p:nvSpPr>
          <p:cNvPr id="16" name="logic-node-body-03">
            <a:extLst xmlns:a="http://schemas.openxmlformats.org/drawingml/2006/main">
              <a:ext uri="{FF2B5EF4-FFF2-40B4-BE49-F238E27FC236}">
                <a16:creationId xmlns:a16="http://schemas.microsoft.com/office/drawing/2014/main" id="{09BDEBBE-E817-4E31-9859-48D7DE15502C}"/>
              </a:ext>
            </a:extLst>
          </p:cNvPr>
          <p:cNvSpPr>
            <a:spLocks xmlns:a="http://schemas.openxmlformats.org/drawingml/2006/main" noGrp="1"/>
          </p:cNvSpPr>
          <p:nvPr/>
        </p:nvSpPr>
        <p:spPr>
          <a:xfrm xmlns:a="http://schemas.openxmlformats.org/drawingml/2006/main">
            <a:off x="5695950" y="3286125"/>
            <a:ext cx="1619250" cy="933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75" b="0">
                <a:solidFill>
                  <a:srgbClr val="2B2630"/>
                </a:solidFill>
                <a:latin typeface="Arial"/>
                <a:ea typeface="Arial"/>
                <a:cs typeface="Arial"/>
              </a:defRPr>
            </a:pPr>
            <a:r>
              <a:rPr sz="1275" b="0">
                <a:solidFill>
                  <a:srgbClr val="2B2630"/>
                </a:solidFill>
                <a:latin typeface="Arial"/>
                <a:ea typeface="Arial"/>
                <a:cs typeface="Arial"/>
              </a:rPr>
              <a:t>Claude receives the plan, question, and sources, then cites them.</a:t>
            </a:r>
          </a:p>
        </p:txBody>
      </p:sp>
      <p:sp>
        <p:nvSpPr>
          <p:cNvPr id="17" name="logic-safety">
            <a:extLst xmlns:a="http://schemas.openxmlformats.org/drawingml/2006/main">
              <a:ext uri="{FF2B5EF4-FFF2-40B4-BE49-F238E27FC236}">
                <a16:creationId xmlns:a16="http://schemas.microsoft.com/office/drawing/2014/main" id="{846E3902-2922-4B57-9F4D-399BDB05F7BF}"/>
              </a:ext>
            </a:extLst>
          </p:cNvPr>
          <p:cNvSpPr>
            <a:spLocks xmlns:a="http://schemas.openxmlformats.org/drawingml/2006/main" noGrp="1"/>
          </p:cNvSpPr>
          <p:nvPr/>
        </p:nvSpPr>
        <p:spPr>
          <a:xfrm xmlns:a="http://schemas.openxmlformats.org/drawingml/2006/main">
            <a:off x="800100" y="4953000"/>
            <a:ext cx="66675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75" b="1">
                <a:solidFill>
                  <a:srgbClr val="DDF3E7"/>
                </a:solidFill>
                <a:latin typeface="Arial"/>
                <a:ea typeface="Arial"/>
                <a:cs typeface="Arial"/>
              </a:defRPr>
            </a:pPr>
            <a:r>
              <a:rPr sz="1575" b="1">
                <a:solidFill>
                  <a:srgbClr val="DDF3E7"/>
                </a:solidFill>
                <a:latin typeface="Arial"/>
                <a:ea typeface="Arial"/>
                <a:cs typeface="Arial"/>
              </a:rPr>
              <a:t>Emergency language is checked first. If triggered, PawPal skips Claude and recommends veterinary help.</a:t>
            </a:r>
          </a:p>
        </p:txBody>
      </p:sp>
      <p:pic>
        <p:nvPicPr>
          <p:cNvPr id="38" name=""/>
          <p:cNvPicPr>
            <a:picLocks xmlns:a="http://schemas.openxmlformats.org/drawingml/2006/main" noChangeAspect="1"/>
          </p:cNvPicPr>
          <p:nvPr/>
        </p:nvPicPr>
        <p:blipFill>
          <a:blip xmlns:r="http://schemas.openxmlformats.org/officeDocument/2006/relationships" xmlns:a="http://schemas.openxmlformats.org/drawingml/2006/main" r:embed="R3e0acc5e40e045fc"/>
          <a:srcRect xmlns:a="http://schemas.openxmlformats.org/drawingml/2006/main" l="73" t="0" r="73" b="0"/>
          <a:stretch xmlns:a="http://schemas.openxmlformats.org/drawingml/2006/main">
            <a:fillRect l="0" t="0" r="0" b="0"/>
          </a:stretch>
        </p:blipFill>
        <p:spPr>
          <a:xfrm xmlns:a="http://schemas.openxmlformats.org/drawingml/2006/main">
            <a:off x="7810500" y="876300"/>
            <a:ext cx="3771900" cy="4953000"/>
          </a:xfrm>
          <a:prstGeom xmlns:a="http://schemas.openxmlformats.org/drawingml/2006/main" prst="roundRect">
            <a:avLst>
              <a:gd name="adj" fmla="val 5556"/>
            </a:avLst>
          </a:prstGeom>
        </p:spPr>
      </p:pic>
      <p:sp>
        <p:nvSpPr>
          <p:cNvPr id="19" name="footer-brand-3">
            <a:extLst xmlns:a="http://schemas.openxmlformats.org/drawingml/2006/main">
              <a:ext uri="{FF2B5EF4-FFF2-40B4-BE49-F238E27FC236}">
                <a16:creationId xmlns:a16="http://schemas.microsoft.com/office/drawing/2014/main" id="{5483E211-C961-4D1E-B808-A9349491CF34}"/>
              </a:ext>
            </a:extLst>
          </p:cNvPr>
          <p:cNvSpPr>
            <a:spLocks xmlns:a="http://schemas.openxmlformats.org/drawingml/2006/main" noGrp="1"/>
          </p:cNvSpPr>
          <p:nvPr/>
        </p:nvSpPr>
        <p:spPr>
          <a:xfrm xmlns:a="http://schemas.openxmlformats.org/drawingml/2006/main">
            <a:off x="609600" y="6362700"/>
            <a:ext cx="1524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75" b="1">
                <a:solidFill>
                  <a:srgbClr val="D7C2E3"/>
                </a:solidFill>
                <a:latin typeface="Arial"/>
                <a:ea typeface="Arial"/>
                <a:cs typeface="Arial"/>
              </a:defRPr>
            </a:pPr>
            <a:r>
              <a:rPr sz="975" b="1">
                <a:solidFill>
                  <a:srgbClr val="D7C2E3"/>
                </a:solidFill>
                <a:latin typeface="Arial"/>
                <a:ea typeface="Arial"/>
                <a:cs typeface="Arial"/>
              </a:rPr>
              <a:t>PAWPAL+</a:t>
            </a:r>
          </a:p>
        </p:txBody>
      </p:sp>
      <p:sp>
        <p:nvSpPr>
          <p:cNvPr id="20" name="footer-number-3">
            <a:extLst xmlns:a="http://schemas.openxmlformats.org/drawingml/2006/main">
              <a:ext uri="{FF2B5EF4-FFF2-40B4-BE49-F238E27FC236}">
                <a16:creationId xmlns:a16="http://schemas.microsoft.com/office/drawing/2014/main" id="{2A788599-CB6A-4716-AF82-6B1EE98B7C2C}"/>
              </a:ext>
            </a:extLst>
          </p:cNvPr>
          <p:cNvSpPr>
            <a:spLocks xmlns:a="http://schemas.openxmlformats.org/drawingml/2006/main" noGrp="1"/>
          </p:cNvSpPr>
          <p:nvPr/>
        </p:nvSpPr>
        <p:spPr>
          <a:xfrm xmlns:a="http://schemas.openxmlformats.org/drawingml/2006/main">
            <a:off x="11334750" y="6362700"/>
            <a:ext cx="2667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75" b="1">
                <a:solidFill>
                  <a:srgbClr val="D7C2E3"/>
                </a:solidFill>
                <a:latin typeface="Arial"/>
                <a:ea typeface="Arial"/>
                <a:cs typeface="Arial"/>
              </a:defRPr>
            </a:pPr>
            <a:r>
              <a:rPr sz="975" b="1">
                <a:solidFill>
                  <a:srgbClr val="D7C2E3"/>
                </a:solidFill>
                <a:latin typeface="Arial"/>
                <a:ea typeface="Arial"/>
                <a:cs typeface="Arial"/>
              </a:rPr>
              <a:t>3</a:t>
            </a:r>
          </a:p>
        </p:txBody>
      </p:sp>
    </p:spTree>
    <p:extLst>
      <p:ext uri="{BB962C8B-B14F-4D97-AF65-F5344CB8AC3E}">
        <p14:creationId xmlns:p14="http://schemas.microsoft.com/office/powerpoint/2010/main" val="1732547829"/>
      </p:ext>
    </p:extLst>
  </p:cSld>
</p:sld>
</file>

<file path=ppt/slides/slide4.xml><?xml version="1.0" encoding="utf-8"?>
<p:sld xmlns:p="http://schemas.openxmlformats.org/presentationml/2006/main">
  <p:cSld>
    <p:bg>
      <p:bgPr>
        <a:solidFill xmlns:a="http://schemas.openxmlformats.org/drawingml/2006/main">
          <a:srgbClr val="DDF3E7"/>
        </a:solidFill>
      </p:bgPr>
    </p:bg>
    <p:spTree>
      <p:nvGrpSpPr>
        <p:cNvPr id="1" name=""/>
        <p:cNvGrpSpPr/>
        <p:nvPr/>
      </p:nvGrpSpPr>
      <p:grpSpPr>
        <a:xfrm xmlns:a="http://schemas.openxmlformats.org/drawingml/2006/main"/>
      </p:grpSpPr>
      <p:sp>
        <p:nvSpPr>
          <p:cNvPr id="14" name="reliability-kicker">
            <a:extLst xmlns:a="http://schemas.openxmlformats.org/drawingml/2006/main">
              <a:ext uri="{FF2B5EF4-FFF2-40B4-BE49-F238E27FC236}">
                <a16:creationId xmlns:a16="http://schemas.microsoft.com/office/drawing/2014/main" id="{B86896DB-819D-49D0-ABFF-B3632F2E62B9}"/>
              </a:ext>
            </a:extLst>
          </p:cNvPr>
          <p:cNvSpPr>
            <a:spLocks xmlns:a="http://schemas.openxmlformats.org/drawingml/2006/main" noGrp="1"/>
          </p:cNvSpPr>
          <p:nvPr/>
        </p:nvSpPr>
        <p:spPr>
          <a:xfrm xmlns:a="http://schemas.openxmlformats.org/drawingml/2006/main">
            <a:off x="628650" y="495300"/>
            <a:ext cx="2857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75" b="1">
                <a:solidFill>
                  <a:srgbClr val="2F6B57"/>
                </a:solidFill>
                <a:latin typeface="Arial"/>
                <a:ea typeface="Arial"/>
                <a:cs typeface="Arial"/>
              </a:defRPr>
            </a:pPr>
            <a:r>
              <a:rPr sz="1275" b="1">
                <a:solidFill>
                  <a:srgbClr val="2F6B57"/>
                </a:solidFill>
                <a:latin typeface="Arial"/>
                <a:ea typeface="Arial"/>
                <a:cs typeface="Arial"/>
              </a:rPr>
              <a:t>THE RELIABILITY</a:t>
            </a:r>
          </a:p>
        </p:txBody>
      </p:sp>
      <p:sp>
        <p:nvSpPr>
          <p:cNvPr id="2" name="reliability-title">
            <a:extLst xmlns:a="http://schemas.openxmlformats.org/drawingml/2006/main">
              <a:ext uri="{FF2B5EF4-FFF2-40B4-BE49-F238E27FC236}">
                <a16:creationId xmlns:a16="http://schemas.microsoft.com/office/drawing/2014/main" id="{588CB2C5-BD3C-48F8-821C-3D38F5046EE1}"/>
              </a:ext>
            </a:extLst>
          </p:cNvPr>
          <p:cNvSpPr>
            <a:spLocks xmlns:a="http://schemas.openxmlformats.org/drawingml/2006/main" noGrp="1"/>
          </p:cNvSpPr>
          <p:nvPr/>
        </p:nvSpPr>
        <p:spPr>
          <a:xfrm xmlns:a="http://schemas.openxmlformats.org/drawingml/2006/main">
            <a:off x="628650" y="971550"/>
            <a:ext cx="75247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3000" b="1">
                <a:solidFill>
                  <a:srgbClr val="3B234D"/>
                </a:solidFill>
                <a:latin typeface="Arial"/>
                <a:ea typeface="Arial"/>
                <a:cs typeface="Arial"/>
              </a:defRPr>
            </a:pPr>
            <a:r>
              <a:rPr sz="3000" b="1">
                <a:solidFill>
                  <a:srgbClr val="3B234D"/>
                </a:solidFill>
                <a:latin typeface="Arial"/>
                <a:ea typeface="Arial"/>
                <a:cs typeface="Arial"/>
              </a:rPr>
              <a:t>I measured the system instead of trusting the demo.</a:t>
            </a:r>
          </a:p>
        </p:txBody>
      </p:sp>
      <p:sp>
        <p:nvSpPr>
          <p:cNvPr id="3" name="metric-48">
            <a:extLst xmlns:a="http://schemas.openxmlformats.org/drawingml/2006/main">
              <a:ext uri="{FF2B5EF4-FFF2-40B4-BE49-F238E27FC236}">
                <a16:creationId xmlns:a16="http://schemas.microsoft.com/office/drawing/2014/main" id="{269FE0F0-89DC-49E4-A8FA-950685ECC854}"/>
              </a:ext>
            </a:extLst>
          </p:cNvPr>
          <p:cNvSpPr>
            <a:spLocks xmlns:a="http://schemas.openxmlformats.org/drawingml/2006/main" noGrp="1"/>
          </p:cNvSpPr>
          <p:nvPr/>
        </p:nvSpPr>
        <p:spPr>
          <a:xfrm xmlns:a="http://schemas.openxmlformats.org/drawingml/2006/main">
            <a:off x="685800" y="2190750"/>
            <a:ext cx="16192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5100" b="1">
                <a:solidFill>
                  <a:srgbClr val="3B234D"/>
                </a:solidFill>
                <a:latin typeface="Arial"/>
                <a:ea typeface="Arial"/>
                <a:cs typeface="Arial"/>
              </a:defRPr>
            </a:pPr>
            <a:r>
              <a:rPr sz="5100" b="1">
                <a:solidFill>
                  <a:srgbClr val="3B234D"/>
                </a:solidFill>
                <a:latin typeface="Arial"/>
                <a:ea typeface="Arial"/>
                <a:cs typeface="Arial"/>
              </a:rPr>
              <a:t>48</a:t>
            </a:r>
          </a:p>
        </p:txBody>
      </p:sp>
      <p:sp>
        <p:nvSpPr>
          <p:cNvPr id="4" name="metric-48-label">
            <a:extLst xmlns:a="http://schemas.openxmlformats.org/drawingml/2006/main">
              <a:ext uri="{FF2B5EF4-FFF2-40B4-BE49-F238E27FC236}">
                <a16:creationId xmlns:a16="http://schemas.microsoft.com/office/drawing/2014/main" id="{90D9BF1D-F2E8-4831-9E06-404941D49CC2}"/>
              </a:ext>
            </a:extLst>
          </p:cNvPr>
          <p:cNvSpPr>
            <a:spLocks xmlns:a="http://schemas.openxmlformats.org/drawingml/2006/main" noGrp="1"/>
          </p:cNvSpPr>
          <p:nvPr/>
        </p:nvSpPr>
        <p:spPr>
          <a:xfrm xmlns:a="http://schemas.openxmlformats.org/drawingml/2006/main">
            <a:off x="723900" y="3048000"/>
            <a:ext cx="2286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1">
                <a:solidFill>
                  <a:srgbClr val="2B2630"/>
                </a:solidFill>
                <a:latin typeface="Arial"/>
                <a:ea typeface="Arial"/>
                <a:cs typeface="Arial"/>
              </a:defRPr>
            </a:pPr>
            <a:r>
              <a:rPr sz="1500" b="1">
                <a:solidFill>
                  <a:srgbClr val="2B2630"/>
                </a:solidFill>
                <a:latin typeface="Arial"/>
                <a:ea typeface="Arial"/>
                <a:cs typeface="Arial"/>
              </a:rPr>
              <a:t>Pytest cases passed</a:t>
            </a:r>
          </a:p>
        </p:txBody>
      </p:sp>
      <p:cxnSp>
        <p:nvCxnSpPr>
          <p:cNvPr id="18" name="metric-rule-1"/>
          <p:cNvCxnSpPr/>
          <p:nvPr/>
        </p:nvCxnSpPr>
        <p:spPr>
          <a:xfrm xmlns:a="http://schemas.openxmlformats.org/drawingml/2006/main">
            <a:off x="723900" y="3714750"/>
            <a:ext cx="4572000" cy="95"/>
          </a:xfrm>
          <a:prstGeom xmlns:a="http://schemas.openxmlformats.org/drawingml/2006/main" prst="straightConnector1">
            <a:avLst/>
          </a:prstGeom>
          <a:ln xmlns:a="http://schemas.openxmlformats.org/drawingml/2006/main" w="19050">
            <a:solidFill>
              <a:srgbClr val="2F6B57"/>
            </a:solidFill>
            <a:prstDash val="solid"/>
          </a:ln>
        </p:spPr>
      </p:cxnSp>
      <p:sp>
        <p:nvSpPr>
          <p:cNvPr id="6" name="metric-7">
            <a:extLst xmlns:a="http://schemas.openxmlformats.org/drawingml/2006/main">
              <a:ext uri="{FF2B5EF4-FFF2-40B4-BE49-F238E27FC236}">
                <a16:creationId xmlns:a16="http://schemas.microsoft.com/office/drawing/2014/main" id="{1906AB87-AB9C-4408-B132-242E65F7F91B}"/>
              </a:ext>
            </a:extLst>
          </p:cNvPr>
          <p:cNvSpPr>
            <a:spLocks xmlns:a="http://schemas.openxmlformats.org/drawingml/2006/main" noGrp="1"/>
          </p:cNvSpPr>
          <p:nvPr/>
        </p:nvSpPr>
        <p:spPr>
          <a:xfrm xmlns:a="http://schemas.openxmlformats.org/drawingml/2006/main">
            <a:off x="685800" y="3981450"/>
            <a:ext cx="18097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4800" b="1">
                <a:solidFill>
                  <a:srgbClr val="3B234D"/>
                </a:solidFill>
                <a:latin typeface="Arial"/>
                <a:ea typeface="Arial"/>
                <a:cs typeface="Arial"/>
              </a:defRPr>
            </a:pPr>
            <a:r>
              <a:rPr sz="4800" b="1">
                <a:solidFill>
                  <a:srgbClr val="3B234D"/>
                </a:solidFill>
                <a:latin typeface="Arial"/>
                <a:ea typeface="Arial"/>
                <a:cs typeface="Arial"/>
              </a:rPr>
              <a:t>7/7</a:t>
            </a:r>
          </a:p>
        </p:txBody>
      </p:sp>
      <p:sp>
        <p:nvSpPr>
          <p:cNvPr id="7" name="metric-7-label">
            <a:extLst xmlns:a="http://schemas.openxmlformats.org/drawingml/2006/main">
              <a:ext uri="{FF2B5EF4-FFF2-40B4-BE49-F238E27FC236}">
                <a16:creationId xmlns:a16="http://schemas.microsoft.com/office/drawing/2014/main" id="{1C44FCF4-2C6C-43F2-8212-6A1D45CC2CC5}"/>
              </a:ext>
            </a:extLst>
          </p:cNvPr>
          <p:cNvSpPr>
            <a:spLocks xmlns:a="http://schemas.openxmlformats.org/drawingml/2006/main" noGrp="1"/>
          </p:cNvSpPr>
          <p:nvPr/>
        </p:nvSpPr>
        <p:spPr>
          <a:xfrm xmlns:a="http://schemas.openxmlformats.org/drawingml/2006/main">
            <a:off x="723900" y="48387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1">
                <a:solidFill>
                  <a:srgbClr val="2B2630"/>
                </a:solidFill>
                <a:latin typeface="Arial"/>
                <a:ea typeface="Arial"/>
                <a:cs typeface="Arial"/>
              </a:defRPr>
            </a:pPr>
            <a:r>
              <a:rPr sz="1500" b="1">
                <a:solidFill>
                  <a:srgbClr val="2B2630"/>
                </a:solidFill>
                <a:latin typeface="Arial"/>
                <a:ea typeface="Arial"/>
                <a:cs typeface="Arial"/>
              </a:rPr>
              <a:t>Evaluation scenarios passed</a:t>
            </a:r>
          </a:p>
        </p:txBody>
      </p:sp>
      <p:sp>
        <p:nvSpPr>
          <p:cNvPr id="8" name="metric-confidence">
            <a:extLst xmlns:a="http://schemas.openxmlformats.org/drawingml/2006/main">
              <a:ext uri="{FF2B5EF4-FFF2-40B4-BE49-F238E27FC236}">
                <a16:creationId xmlns:a16="http://schemas.microsoft.com/office/drawing/2014/main" id="{8FDDF2AC-9233-4BB0-9C11-953A344A056F}"/>
              </a:ext>
            </a:extLst>
          </p:cNvPr>
          <p:cNvSpPr>
            <a:spLocks xmlns:a="http://schemas.openxmlformats.org/drawingml/2006/main" noGrp="1"/>
          </p:cNvSpPr>
          <p:nvPr/>
        </p:nvSpPr>
        <p:spPr>
          <a:xfrm xmlns:a="http://schemas.openxmlformats.org/drawingml/2006/main">
            <a:off x="3543300" y="2190750"/>
            <a:ext cx="1905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4800" b="1">
                <a:solidFill>
                  <a:srgbClr val="E98777"/>
                </a:solidFill>
                <a:latin typeface="Arial"/>
                <a:ea typeface="Arial"/>
                <a:cs typeface="Arial"/>
              </a:defRPr>
            </a:pPr>
            <a:r>
              <a:rPr sz="4800" b="1">
                <a:solidFill>
                  <a:srgbClr val="E98777"/>
                </a:solidFill>
                <a:latin typeface="Arial"/>
                <a:ea typeface="Arial"/>
                <a:cs typeface="Arial"/>
              </a:rPr>
              <a:t>95%</a:t>
            </a:r>
          </a:p>
        </p:txBody>
      </p:sp>
      <p:sp>
        <p:nvSpPr>
          <p:cNvPr id="9" name="metric-confidence-label">
            <a:extLst xmlns:a="http://schemas.openxmlformats.org/drawingml/2006/main">
              <a:ext uri="{FF2B5EF4-FFF2-40B4-BE49-F238E27FC236}">
                <a16:creationId xmlns:a16="http://schemas.microsoft.com/office/drawing/2014/main" id="{B0F3EA4F-57C1-444D-9A13-FBB50D430A4D}"/>
              </a:ext>
            </a:extLst>
          </p:cNvPr>
          <p:cNvSpPr>
            <a:spLocks xmlns:a="http://schemas.openxmlformats.org/drawingml/2006/main" noGrp="1"/>
          </p:cNvSpPr>
          <p:nvPr/>
        </p:nvSpPr>
        <p:spPr>
          <a:xfrm xmlns:a="http://schemas.openxmlformats.org/drawingml/2006/main">
            <a:off x="3581400" y="3048000"/>
            <a:ext cx="23812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1">
                <a:solidFill>
                  <a:srgbClr val="2B2630"/>
                </a:solidFill>
                <a:latin typeface="Arial"/>
                <a:ea typeface="Arial"/>
                <a:cs typeface="Arial"/>
              </a:defRPr>
            </a:pPr>
            <a:r>
              <a:rPr sz="1500" b="1">
                <a:solidFill>
                  <a:srgbClr val="2B2630"/>
                </a:solidFill>
                <a:latin typeface="Arial"/>
                <a:ea typeface="Arial"/>
                <a:cs typeface="Arial"/>
              </a:rPr>
              <a:t>Retrieval confidence</a:t>
            </a:r>
          </a:p>
          <a:p xmlns:a="http://schemas.openxmlformats.org/drawingml/2006/main">
            <a:pPr algn="l">
              <a:defRPr sz="1500" b="1">
                <a:solidFill>
                  <a:srgbClr val="2B2630"/>
                </a:solidFill>
                <a:latin typeface="Arial"/>
                <a:ea typeface="Arial"/>
                <a:cs typeface="Arial"/>
              </a:defRPr>
            </a:pPr>
            <a:r>
              <a:rPr sz="1500" b="1">
                <a:solidFill>
                  <a:srgbClr val="2B2630"/>
                </a:solidFill>
                <a:latin typeface="Arial"/>
                <a:ea typeface="Arial"/>
                <a:cs typeface="Arial"/>
              </a:rPr>
              <a:t>in the live demo</a:t>
            </a:r>
          </a:p>
        </p:txBody>
      </p:sp>
      <p:sp>
        <p:nvSpPr>
          <p:cNvPr id="10" name="confidence-note">
            <a:extLst xmlns:a="http://schemas.openxmlformats.org/drawingml/2006/main">
              <a:ext uri="{FF2B5EF4-FFF2-40B4-BE49-F238E27FC236}">
                <a16:creationId xmlns:a16="http://schemas.microsoft.com/office/drawing/2014/main" id="{CAFE4CD4-2C2E-4C2C-AA17-5912CDAEE564}"/>
              </a:ext>
            </a:extLst>
          </p:cNvPr>
          <p:cNvSpPr>
            <a:spLocks xmlns:a="http://schemas.openxmlformats.org/drawingml/2006/main" noGrp="1"/>
          </p:cNvSpPr>
          <p:nvPr/>
        </p:nvSpPr>
        <p:spPr>
          <a:xfrm xmlns:a="http://schemas.openxmlformats.org/drawingml/2006/main">
            <a:off x="3524250" y="4267200"/>
            <a:ext cx="28575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425" b="1">
                <a:solidFill>
                  <a:srgbClr val="2F6B57"/>
                </a:solidFill>
                <a:latin typeface="Arial"/>
                <a:ea typeface="Arial"/>
                <a:cs typeface="Arial"/>
              </a:defRPr>
            </a:pPr>
            <a:r>
              <a:rPr sz="1425" b="1">
                <a:solidFill>
                  <a:srgbClr val="2F6B57"/>
                </a:solidFill>
                <a:latin typeface="Arial"/>
                <a:ea typeface="Arial"/>
                <a:cs typeface="Arial"/>
              </a:rPr>
              <a:t>Confidence measures retrieval strength—not medical certainty.</a:t>
            </a:r>
          </a:p>
        </p:txBody>
      </p:sp>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907a7d6f62dc4cfd"/>
          <a:srcRect xmlns:a="http://schemas.openxmlformats.org/drawingml/2006/main" l="0" t="20" r="0" b="20"/>
          <a:stretch xmlns:a="http://schemas.openxmlformats.org/drawingml/2006/main">
            <a:fillRect l="0" t="0" r="0" b="0"/>
          </a:stretch>
        </p:blipFill>
        <p:spPr>
          <a:xfrm xmlns:a="http://schemas.openxmlformats.org/drawingml/2006/main">
            <a:off x="7524750" y="819150"/>
            <a:ext cx="3924300" cy="5143500"/>
          </a:xfrm>
          <a:prstGeom xmlns:a="http://schemas.openxmlformats.org/drawingml/2006/main" prst="roundRect">
            <a:avLst>
              <a:gd name="adj" fmla="val 5340"/>
            </a:avLst>
          </a:prstGeom>
        </p:spPr>
      </p:pic>
      <p:sp>
        <p:nvSpPr>
          <p:cNvPr id="12" name="footer-brand-4">
            <a:extLst xmlns:a="http://schemas.openxmlformats.org/drawingml/2006/main">
              <a:ext uri="{FF2B5EF4-FFF2-40B4-BE49-F238E27FC236}">
                <a16:creationId xmlns:a16="http://schemas.microsoft.com/office/drawing/2014/main" id="{F640D943-7647-4010-898A-E04419EB25CD}"/>
              </a:ext>
            </a:extLst>
          </p:cNvPr>
          <p:cNvSpPr>
            <a:spLocks xmlns:a="http://schemas.openxmlformats.org/drawingml/2006/main" noGrp="1"/>
          </p:cNvSpPr>
          <p:nvPr/>
        </p:nvSpPr>
        <p:spPr>
          <a:xfrm xmlns:a="http://schemas.openxmlformats.org/drawingml/2006/main">
            <a:off x="609600" y="6362700"/>
            <a:ext cx="1524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75" b="1">
                <a:solidFill>
                  <a:srgbClr val="2F6B57"/>
                </a:solidFill>
                <a:latin typeface="Arial"/>
                <a:ea typeface="Arial"/>
                <a:cs typeface="Arial"/>
              </a:defRPr>
            </a:pPr>
            <a:r>
              <a:rPr sz="975" b="1">
                <a:solidFill>
                  <a:srgbClr val="2F6B57"/>
                </a:solidFill>
                <a:latin typeface="Arial"/>
                <a:ea typeface="Arial"/>
                <a:cs typeface="Arial"/>
              </a:rPr>
              <a:t>PAWPAL+</a:t>
            </a:r>
          </a:p>
        </p:txBody>
      </p:sp>
      <p:sp>
        <p:nvSpPr>
          <p:cNvPr id="13" name="footer-number-4">
            <a:extLst xmlns:a="http://schemas.openxmlformats.org/drawingml/2006/main">
              <a:ext uri="{FF2B5EF4-FFF2-40B4-BE49-F238E27FC236}">
                <a16:creationId xmlns:a16="http://schemas.microsoft.com/office/drawing/2014/main" id="{087C1D10-379C-48C5-B6FA-A49F330FD126}"/>
              </a:ext>
            </a:extLst>
          </p:cNvPr>
          <p:cNvSpPr>
            <a:spLocks xmlns:a="http://schemas.openxmlformats.org/drawingml/2006/main" noGrp="1"/>
          </p:cNvSpPr>
          <p:nvPr/>
        </p:nvSpPr>
        <p:spPr>
          <a:xfrm xmlns:a="http://schemas.openxmlformats.org/drawingml/2006/main">
            <a:off x="11334750" y="6362700"/>
            <a:ext cx="2667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75" b="1">
                <a:solidFill>
                  <a:srgbClr val="2F6B57"/>
                </a:solidFill>
                <a:latin typeface="Arial"/>
                <a:ea typeface="Arial"/>
                <a:cs typeface="Arial"/>
              </a:defRPr>
            </a:pPr>
            <a:r>
              <a:rPr sz="975" b="1">
                <a:solidFill>
                  <a:srgbClr val="2F6B57"/>
                </a:solidFill>
                <a:latin typeface="Arial"/>
                <a:ea typeface="Arial"/>
                <a:cs typeface="Arial"/>
              </a:rPr>
              <a:t>4</a:t>
            </a:r>
          </a:p>
        </p:txBody>
      </p:sp>
    </p:spTree>
    <p:extLst>
      <p:ext uri="{BB962C8B-B14F-4D97-AF65-F5344CB8AC3E}">
        <p14:creationId xmlns:p14="http://schemas.microsoft.com/office/powerpoint/2010/main" val="1847445704"/>
      </p:ext>
    </p:extLst>
  </p:cSld>
</p:sld>
</file>

<file path=ppt/slides/slide5.xml><?xml version="1.0" encoding="utf-8"?>
<p:sld xmlns:p="http://schemas.openxmlformats.org/presentationml/2006/main">
  <p:cSld>
    <p:bg>
      <p:bgPr>
        <a:solidFill xmlns:a="http://schemas.openxmlformats.org/drawingml/2006/main">
          <a:srgbClr val="EFE5F4"/>
        </a:solidFill>
      </p:bgPr>
    </p:bg>
    <p:spTree>
      <p:nvGrpSpPr>
        <p:cNvPr id="1" name=""/>
        <p:cNvGrpSpPr/>
        <p:nvPr/>
      </p:nvGrpSpPr>
      <p:grpSpPr>
        <a:xfrm xmlns:a="http://schemas.openxmlformats.org/drawingml/2006/main"/>
      </p:grpSpPr>
      <p:sp>
        <p:nvSpPr>
          <p:cNvPr id="12" name="reflection-kicker">
            <a:extLst xmlns:a="http://schemas.openxmlformats.org/drawingml/2006/main">
              <a:ext uri="{FF2B5EF4-FFF2-40B4-BE49-F238E27FC236}">
                <a16:creationId xmlns:a16="http://schemas.microsoft.com/office/drawing/2014/main" id="{23B72DEA-EDA9-4B6D-B356-3782DBC94175}"/>
              </a:ext>
            </a:extLst>
          </p:cNvPr>
          <p:cNvSpPr>
            <a:spLocks xmlns:a="http://schemas.openxmlformats.org/drawingml/2006/main" noGrp="1"/>
          </p:cNvSpPr>
          <p:nvPr/>
        </p:nvSpPr>
        <p:spPr>
          <a:xfrm xmlns:a="http://schemas.openxmlformats.org/drawingml/2006/main">
            <a:off x="628650" y="495300"/>
            <a:ext cx="2667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75" b="1">
                <a:solidFill>
                  <a:srgbClr val="E98777"/>
                </a:solidFill>
                <a:latin typeface="Arial"/>
                <a:ea typeface="Arial"/>
                <a:cs typeface="Arial"/>
              </a:defRPr>
            </a:pPr>
            <a:r>
              <a:rPr sz="1275" b="1">
                <a:solidFill>
                  <a:srgbClr val="E98777"/>
                </a:solidFill>
                <a:latin typeface="Arial"/>
                <a:ea typeface="Arial"/>
                <a:cs typeface="Arial"/>
              </a:rPr>
              <a:t>THE REFLECTION</a:t>
            </a:r>
          </a:p>
        </p:txBody>
      </p:sp>
      <p:sp>
        <p:nvSpPr>
          <p:cNvPr id="2" name="reflection-title">
            <a:extLst xmlns:a="http://schemas.openxmlformats.org/drawingml/2006/main">
              <a:ext uri="{FF2B5EF4-FFF2-40B4-BE49-F238E27FC236}">
                <a16:creationId xmlns:a16="http://schemas.microsoft.com/office/drawing/2014/main" id="{0171AAA2-7B5E-4AC7-91F5-850DFB79E5D8}"/>
              </a:ext>
            </a:extLst>
          </p:cNvPr>
          <p:cNvSpPr>
            <a:spLocks xmlns:a="http://schemas.openxmlformats.org/drawingml/2006/main" noGrp="1"/>
          </p:cNvSpPr>
          <p:nvPr/>
        </p:nvSpPr>
        <p:spPr>
          <a:xfrm xmlns:a="http://schemas.openxmlformats.org/drawingml/2006/main">
            <a:off x="628650" y="1000125"/>
            <a:ext cx="91440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3000" b="1">
                <a:solidFill>
                  <a:srgbClr val="3B234D"/>
                </a:solidFill>
                <a:latin typeface="Arial"/>
                <a:ea typeface="Arial"/>
                <a:cs typeface="Arial"/>
              </a:defRPr>
            </a:pPr>
            <a:r>
              <a:rPr sz="3000" b="1">
                <a:solidFill>
                  <a:srgbClr val="3B234D"/>
                </a:solidFill>
                <a:latin typeface="Arial"/>
                <a:ea typeface="Arial"/>
                <a:cs typeface="Arial"/>
              </a:rPr>
              <a:t>The surprising bugs were in retrieval—not in Claude.</a:t>
            </a:r>
          </a:p>
        </p:txBody>
      </p:sp>
      <p:sp>
        <p:nvSpPr>
          <p:cNvPr id="3" name="reflection-expected-label">
            <a:extLst xmlns:a="http://schemas.openxmlformats.org/drawingml/2006/main">
              <a:ext uri="{FF2B5EF4-FFF2-40B4-BE49-F238E27FC236}">
                <a16:creationId xmlns:a16="http://schemas.microsoft.com/office/drawing/2014/main" id="{A1856D40-7DF6-4448-887B-60CBADE443C6}"/>
              </a:ext>
            </a:extLst>
          </p:cNvPr>
          <p:cNvSpPr>
            <a:spLocks xmlns:a="http://schemas.openxmlformats.org/drawingml/2006/main" noGrp="1"/>
          </p:cNvSpPr>
          <p:nvPr/>
        </p:nvSpPr>
        <p:spPr>
          <a:xfrm xmlns:a="http://schemas.openxmlformats.org/drawingml/2006/main">
            <a:off x="685800" y="2381250"/>
            <a:ext cx="2857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1">
                <a:solidFill>
                  <a:srgbClr val="2F6B57"/>
                </a:solidFill>
                <a:latin typeface="Arial"/>
                <a:ea typeface="Arial"/>
                <a:cs typeface="Arial"/>
              </a:defRPr>
            </a:pPr>
            <a:r>
              <a:rPr sz="1350" b="1">
                <a:solidFill>
                  <a:srgbClr val="2F6B57"/>
                </a:solidFill>
                <a:latin typeface="Arial"/>
                <a:ea typeface="Arial"/>
                <a:cs typeface="Arial"/>
              </a:rPr>
              <a:t>WHAT HELPED</a:t>
            </a:r>
          </a:p>
        </p:txBody>
      </p:sp>
      <p:sp>
        <p:nvSpPr>
          <p:cNvPr id="4" name="reflection-expected">
            <a:extLst xmlns:a="http://schemas.openxmlformats.org/drawingml/2006/main">
              <a:ext uri="{FF2B5EF4-FFF2-40B4-BE49-F238E27FC236}">
                <a16:creationId xmlns:a16="http://schemas.microsoft.com/office/drawing/2014/main" id="{366751DE-F938-4A4B-A111-036FBDB39186}"/>
              </a:ext>
            </a:extLst>
          </p:cNvPr>
          <p:cNvSpPr>
            <a:spLocks xmlns:a="http://schemas.openxmlformats.org/drawingml/2006/main" noGrp="1"/>
          </p:cNvSpPr>
          <p:nvPr/>
        </p:nvSpPr>
        <p:spPr>
          <a:xfrm xmlns:a="http://schemas.openxmlformats.org/drawingml/2006/main">
            <a:off x="685800" y="2905125"/>
            <a:ext cx="4667250" cy="1571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00" b="1">
                <a:solidFill>
                  <a:srgbClr val="2B2630"/>
                </a:solidFill>
                <a:latin typeface="Arial"/>
                <a:ea typeface="Arial"/>
                <a:cs typeface="Arial"/>
              </a:defRPr>
            </a:pPr>
            <a:r>
              <a:rPr sz="1800" b="1">
                <a:solidFill>
                  <a:srgbClr val="2B2630"/>
                </a:solidFill>
                <a:latin typeface="Arial"/>
                <a:ea typeface="Arial"/>
                <a:cs typeface="Arial"/>
              </a:rPr>
              <a:t>Keep scheduling deterministic.</a:t>
            </a:r>
          </a:p>
          <a:p xmlns:a="http://schemas.openxmlformats.org/drawingml/2006/main">
            <a:pPr algn="l">
              <a:defRPr sz="1800" b="1">
                <a:solidFill>
                  <a:srgbClr val="2B2630"/>
                </a:solidFill>
                <a:latin typeface="Arial"/>
                <a:ea typeface="Arial"/>
                <a:cs typeface="Arial"/>
              </a:defRPr>
            </a:pPr>
            <a:r>
              <a:rPr sz="1800" b="1">
                <a:solidFill>
                  <a:srgbClr val="2B2630"/>
                </a:solidFill>
                <a:latin typeface="Arial"/>
                <a:ea typeface="Arial"/>
                <a:cs typeface="Arial"/>
              </a:rPr>
              <a:t>Use Claude only for grounded explanation.</a:t>
            </a:r>
          </a:p>
          <a:p xmlns:a="http://schemas.openxmlformats.org/drawingml/2006/main">
            <a:pPr algn="l">
              <a:defRPr sz="1800" b="1">
                <a:solidFill>
                  <a:srgbClr val="2B2630"/>
                </a:solidFill>
                <a:latin typeface="Arial"/>
                <a:ea typeface="Arial"/>
                <a:cs typeface="Arial"/>
              </a:defRPr>
            </a:pPr>
            <a:r>
              <a:rPr sz="1800" b="1">
                <a:solidFill>
                  <a:srgbClr val="2B2630"/>
                </a:solidFill>
                <a:latin typeface="Arial"/>
                <a:ea typeface="Arial"/>
                <a:cs typeface="Arial"/>
              </a:rPr>
              <a:t>Test each system boundary separately.</a:t>
            </a:r>
          </a:p>
        </p:txBody>
      </p:sp>
      <p:cxnSp>
        <p:nvCxnSpPr>
          <p:cNvPr id="16" name="reflection-divider"/>
          <p:cNvCxnSpPr/>
          <p:nvPr/>
        </p:nvCxnSpPr>
        <p:spPr>
          <a:xfrm xmlns:a="http://schemas.openxmlformats.org/drawingml/2006/main">
            <a:off x="6000750" y="2190750"/>
            <a:ext cx="95" cy="95"/>
          </a:xfrm>
          <a:prstGeom xmlns:a="http://schemas.openxmlformats.org/drawingml/2006/main" prst="straightConnector1">
            <a:avLst/>
          </a:prstGeom>
          <a:ln xmlns:a="http://schemas.openxmlformats.org/drawingml/2006/main" w="19050">
            <a:solidFill>
              <a:srgbClr val="6F527F"/>
            </a:solidFill>
            <a:prstDash val="solid"/>
          </a:ln>
        </p:spPr>
      </p:cxnSp>
      <p:cxnSp>
        <p:nvCxnSpPr>
          <p:cNvPr id="17" name="reflection-vertical-divider"/>
          <p:cNvCxnSpPr/>
          <p:nvPr/>
        </p:nvCxnSpPr>
        <p:spPr>
          <a:xfrm xmlns:a="http://schemas.openxmlformats.org/drawingml/2006/main">
            <a:off x="6000750" y="2190750"/>
            <a:ext cx="95" cy="2952750"/>
          </a:xfrm>
          <a:prstGeom xmlns:a="http://schemas.openxmlformats.org/drawingml/2006/main" prst="straightConnector1">
            <a:avLst/>
          </a:prstGeom>
          <a:ln xmlns:a="http://schemas.openxmlformats.org/drawingml/2006/main" w="28575">
            <a:solidFill>
              <a:srgbClr val="D7C2E3"/>
            </a:solidFill>
            <a:prstDash val="solid"/>
          </a:ln>
        </p:spPr>
      </p:cxnSp>
      <p:sp>
        <p:nvSpPr>
          <p:cNvPr id="7" name="reflection-flawed-label">
            <a:extLst xmlns:a="http://schemas.openxmlformats.org/drawingml/2006/main">
              <a:ext uri="{FF2B5EF4-FFF2-40B4-BE49-F238E27FC236}">
                <a16:creationId xmlns:a16="http://schemas.microsoft.com/office/drawing/2014/main" id="{C659DF04-BE3E-4CF9-9BBF-470A8E4280AF}"/>
              </a:ext>
            </a:extLst>
          </p:cNvPr>
          <p:cNvSpPr>
            <a:spLocks xmlns:a="http://schemas.openxmlformats.org/drawingml/2006/main" noGrp="1"/>
          </p:cNvSpPr>
          <p:nvPr/>
        </p:nvSpPr>
        <p:spPr>
          <a:xfrm xmlns:a="http://schemas.openxmlformats.org/drawingml/2006/main">
            <a:off x="6667500" y="2381250"/>
            <a:ext cx="2857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1">
                <a:solidFill>
                  <a:srgbClr val="E98777"/>
                </a:solidFill>
                <a:latin typeface="Arial"/>
                <a:ea typeface="Arial"/>
                <a:cs typeface="Arial"/>
              </a:defRPr>
            </a:pPr>
            <a:r>
              <a:rPr sz="1350" b="1">
                <a:solidFill>
                  <a:srgbClr val="E98777"/>
                </a:solidFill>
                <a:latin typeface="Arial"/>
                <a:ea typeface="Arial"/>
                <a:cs typeface="Arial"/>
              </a:rPr>
              <a:t>WHAT FAILED</a:t>
            </a:r>
          </a:p>
        </p:txBody>
      </p:sp>
      <p:sp>
        <p:nvSpPr>
          <p:cNvPr id="8" name="reflection-flawed">
            <a:extLst xmlns:a="http://schemas.openxmlformats.org/drawingml/2006/main">
              <a:ext uri="{FF2B5EF4-FFF2-40B4-BE49-F238E27FC236}">
                <a16:creationId xmlns:a16="http://schemas.microsoft.com/office/drawing/2014/main" id="{1D172AF3-583E-4998-B522-261F4B5C0D7A}"/>
              </a:ext>
            </a:extLst>
          </p:cNvPr>
          <p:cNvSpPr>
            <a:spLocks xmlns:a="http://schemas.openxmlformats.org/drawingml/2006/main" noGrp="1"/>
          </p:cNvSpPr>
          <p:nvPr/>
        </p:nvSpPr>
        <p:spPr>
          <a:xfrm xmlns:a="http://schemas.openxmlformats.org/drawingml/2006/main">
            <a:off x="6667500" y="2905125"/>
            <a:ext cx="4762500" cy="1571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00" b="1">
                <a:solidFill>
                  <a:srgbClr val="2B2630"/>
                </a:solidFill>
                <a:latin typeface="Arial"/>
                <a:ea typeface="Arial"/>
                <a:cs typeface="Arial"/>
              </a:defRPr>
            </a:pPr>
            <a:r>
              <a:rPr sz="1800" b="1">
                <a:solidFill>
                  <a:srgbClr val="2B2630"/>
                </a:solidFill>
                <a:latin typeface="Arial"/>
                <a:ea typeface="Arial"/>
                <a:cs typeface="Arial"/>
              </a:rPr>
              <a:t>Wrong-species passages slipped through.</a:t>
            </a:r>
          </a:p>
          <a:p xmlns:a="http://schemas.openxmlformats.org/drawingml/2006/main">
            <a:pPr algn="l">
              <a:defRPr sz="1800" b="1">
                <a:solidFill>
                  <a:srgbClr val="2B2630"/>
                </a:solidFill>
                <a:latin typeface="Arial"/>
                <a:ea typeface="Arial"/>
                <a:cs typeface="Arial"/>
              </a:defRPr>
            </a:pPr>
            <a:r>
              <a:rPr sz="1800" b="1">
                <a:solidFill>
                  <a:srgbClr val="2B2630"/>
                </a:solidFill>
                <a:latin typeface="Arial"/>
                <a:ea typeface="Arial"/>
                <a:cs typeface="Arial"/>
              </a:rPr>
              <a:t>The generic word “can” caused a false match.</a:t>
            </a:r>
          </a:p>
          <a:p xmlns:a="http://schemas.openxmlformats.org/drawingml/2006/main">
            <a:pPr algn="l">
              <a:defRPr sz="1800" b="1">
                <a:solidFill>
                  <a:srgbClr val="2B2630"/>
                </a:solidFill>
                <a:latin typeface="Arial"/>
                <a:ea typeface="Arial"/>
                <a:cs typeface="Arial"/>
              </a:defRPr>
            </a:pPr>
            <a:r>
              <a:rPr sz="1800" b="1">
                <a:solidFill>
                  <a:srgbClr val="2B2630"/>
                </a:solidFill>
                <a:latin typeface="Arial"/>
                <a:ea typeface="Arial"/>
                <a:cs typeface="Arial"/>
              </a:rPr>
              <a:t>Weak assertions still produced green tests.</a:t>
            </a:r>
          </a:p>
        </p:txBody>
      </p:sp>
      <p:sp>
        <p:nvSpPr>
          <p:cNvPr id="9" name="reflection-lesson">
            <a:extLst xmlns:a="http://schemas.openxmlformats.org/drawingml/2006/main">
              <a:ext uri="{FF2B5EF4-FFF2-40B4-BE49-F238E27FC236}">
                <a16:creationId xmlns:a16="http://schemas.microsoft.com/office/drawing/2014/main" id="{36C5E74F-CF24-49B7-B559-EC902F455CC5}"/>
              </a:ext>
            </a:extLst>
          </p:cNvPr>
          <p:cNvSpPr>
            <a:spLocks xmlns:a="http://schemas.openxmlformats.org/drawingml/2006/main" noGrp="1"/>
          </p:cNvSpPr>
          <p:nvPr/>
        </p:nvSpPr>
        <p:spPr>
          <a:xfrm xmlns:a="http://schemas.openxmlformats.org/drawingml/2006/main">
            <a:off x="1809750" y="5476875"/>
            <a:ext cx="85725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2100" b="1">
                <a:solidFill>
                  <a:srgbClr val="3B234D"/>
                </a:solidFill>
                <a:latin typeface="Arial"/>
                <a:ea typeface="Arial"/>
                <a:cs typeface="Arial"/>
              </a:defRPr>
            </a:pPr>
            <a:r>
              <a:rPr sz="2100" b="1">
                <a:solidFill>
                  <a:srgbClr val="3B234D"/>
                </a:solidFill>
                <a:latin typeface="Arial"/>
                <a:ea typeface="Arial"/>
                <a:cs typeface="Arial"/>
              </a:rPr>
              <a:t>My biggest lesson: inspect the output, not only the pass total.</a:t>
            </a:r>
          </a:p>
        </p:txBody>
      </p:sp>
      <p:sp>
        <p:nvSpPr>
          <p:cNvPr id="10" name="footer-brand-5">
            <a:extLst xmlns:a="http://schemas.openxmlformats.org/drawingml/2006/main">
              <a:ext uri="{FF2B5EF4-FFF2-40B4-BE49-F238E27FC236}">
                <a16:creationId xmlns:a16="http://schemas.microsoft.com/office/drawing/2014/main" id="{47BCF9C8-B48F-4810-B40F-CFE6E5A93E86}"/>
              </a:ext>
            </a:extLst>
          </p:cNvPr>
          <p:cNvSpPr>
            <a:spLocks xmlns:a="http://schemas.openxmlformats.org/drawingml/2006/main" noGrp="1"/>
          </p:cNvSpPr>
          <p:nvPr/>
        </p:nvSpPr>
        <p:spPr>
          <a:xfrm xmlns:a="http://schemas.openxmlformats.org/drawingml/2006/main">
            <a:off x="609600" y="6362700"/>
            <a:ext cx="1524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75" b="1">
                <a:solidFill>
                  <a:srgbClr val="6F527F"/>
                </a:solidFill>
                <a:latin typeface="Arial"/>
                <a:ea typeface="Arial"/>
                <a:cs typeface="Arial"/>
              </a:defRPr>
            </a:pPr>
            <a:r>
              <a:rPr sz="975" b="1">
                <a:solidFill>
                  <a:srgbClr val="6F527F"/>
                </a:solidFill>
                <a:latin typeface="Arial"/>
                <a:ea typeface="Arial"/>
                <a:cs typeface="Arial"/>
              </a:rPr>
              <a:t>PAWPAL+</a:t>
            </a:r>
          </a:p>
        </p:txBody>
      </p:sp>
      <p:sp>
        <p:nvSpPr>
          <p:cNvPr id="11" name="footer-number-5">
            <a:extLst xmlns:a="http://schemas.openxmlformats.org/drawingml/2006/main">
              <a:ext uri="{FF2B5EF4-FFF2-40B4-BE49-F238E27FC236}">
                <a16:creationId xmlns:a16="http://schemas.microsoft.com/office/drawing/2014/main" id="{FF19B26A-CB69-41E2-A945-EB6D921CE057}"/>
              </a:ext>
            </a:extLst>
          </p:cNvPr>
          <p:cNvSpPr>
            <a:spLocks xmlns:a="http://schemas.openxmlformats.org/drawingml/2006/main" noGrp="1"/>
          </p:cNvSpPr>
          <p:nvPr/>
        </p:nvSpPr>
        <p:spPr>
          <a:xfrm xmlns:a="http://schemas.openxmlformats.org/drawingml/2006/main">
            <a:off x="11334750" y="6362700"/>
            <a:ext cx="2667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75" b="1">
                <a:solidFill>
                  <a:srgbClr val="6F527F"/>
                </a:solidFill>
                <a:latin typeface="Arial"/>
                <a:ea typeface="Arial"/>
                <a:cs typeface="Arial"/>
              </a:defRPr>
            </a:pPr>
            <a:r>
              <a:rPr sz="975" b="1">
                <a:solidFill>
                  <a:srgbClr val="6F527F"/>
                </a:solidFill>
                <a:latin typeface="Arial"/>
                <a:ea typeface="Arial"/>
                <a:cs typeface="Arial"/>
              </a:rPr>
              <a:t>5</a:t>
            </a:r>
          </a:p>
        </p:txBody>
      </p:sp>
    </p:spTree>
    <p:extLst>
      <p:ext uri="{BB962C8B-B14F-4D97-AF65-F5344CB8AC3E}">
        <p14:creationId xmlns:p14="http://schemas.microsoft.com/office/powerpoint/2010/main" val="346519611"/>
      </p:ext>
    </p:extLst>
  </p:cSld>
</p:sld>
</file>

<file path=ppt/slides/slide6.xml><?xml version="1.0" encoding="utf-8"?>
<p:sld xmlns:p="http://schemas.openxmlformats.org/presentationml/2006/main">
  <p:cSld>
    <p:bg>
      <p:bgPr>
        <a:solidFill xmlns:a="http://schemas.openxmlformats.org/drawingml/2006/main">
          <a:srgbClr val="3B234D"/>
        </a:solidFill>
      </p:bgPr>
    </p:bg>
    <p:spTree>
      <p:nvGrpSpPr>
        <p:cNvPr id="1" name=""/>
        <p:cNvGrpSpPr/>
        <p:nvPr/>
      </p:nvGrpSpPr>
      <p:grpSpPr>
        <a:xfrm xmlns:a="http://schemas.openxmlformats.org/drawingml/2006/main"/>
      </p:grpSpPr>
      <p:sp>
        <p:nvSpPr>
          <p:cNvPr id="7" name="close-kicker">
            <a:extLst xmlns:a="http://schemas.openxmlformats.org/drawingml/2006/main">
              <a:ext uri="{FF2B5EF4-FFF2-40B4-BE49-F238E27FC236}">
                <a16:creationId xmlns:a16="http://schemas.microsoft.com/office/drawing/2014/main" id="{D0F97DD8-8D4C-4BCF-BE05-0029A1E32C37}"/>
              </a:ext>
            </a:extLst>
          </p:cNvPr>
          <p:cNvSpPr>
            <a:spLocks xmlns:a="http://schemas.openxmlformats.org/drawingml/2006/main" noGrp="1"/>
          </p:cNvSpPr>
          <p:nvPr/>
        </p:nvSpPr>
        <p:spPr>
          <a:xfrm xmlns:a="http://schemas.openxmlformats.org/drawingml/2006/main">
            <a:off x="628650" y="552450"/>
            <a:ext cx="238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1">
                <a:solidFill>
                  <a:srgbClr val="E98777"/>
                </a:solidFill>
                <a:latin typeface="Arial"/>
                <a:ea typeface="Arial"/>
                <a:cs typeface="Arial"/>
              </a:defRPr>
            </a:pPr>
            <a:r>
              <a:rPr sz="1500" b="1">
                <a:solidFill>
                  <a:srgbClr val="E98777"/>
                </a:solidFill>
                <a:latin typeface="Arial"/>
                <a:ea typeface="Arial"/>
                <a:cs typeface="Arial"/>
              </a:rPr>
              <a:t>PAWPAL+</a:t>
            </a:r>
          </a:p>
        </p:txBody>
      </p:sp>
      <p:sp>
        <p:nvSpPr>
          <p:cNvPr id="2" name="close-title">
            <a:extLst xmlns:a="http://schemas.openxmlformats.org/drawingml/2006/main">
              <a:ext uri="{FF2B5EF4-FFF2-40B4-BE49-F238E27FC236}">
                <a16:creationId xmlns:a16="http://schemas.microsoft.com/office/drawing/2014/main" id="{924E1700-56C0-4378-A615-2ED0E9157ADD}"/>
              </a:ext>
            </a:extLst>
          </p:cNvPr>
          <p:cNvSpPr>
            <a:spLocks xmlns:a="http://schemas.openxmlformats.org/drawingml/2006/main" noGrp="1"/>
          </p:cNvSpPr>
          <p:nvPr/>
        </p:nvSpPr>
        <p:spPr>
          <a:xfrm xmlns:a="http://schemas.openxmlformats.org/drawingml/2006/main">
            <a:off x="628650" y="1619250"/>
            <a:ext cx="857250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4350" b="1">
                <a:solidFill>
                  <a:srgbClr val="FFFFFF"/>
                </a:solidFill>
                <a:latin typeface="Arial"/>
                <a:ea typeface="Arial"/>
                <a:cs typeface="Arial"/>
              </a:defRPr>
            </a:pPr>
            <a:r>
              <a:rPr sz="4350" b="1">
                <a:solidFill>
                  <a:srgbClr val="FFFFFF"/>
                </a:solidFill>
                <a:latin typeface="Arial"/>
                <a:ea typeface="Arial"/>
                <a:cs typeface="Arial"/>
              </a:rPr>
              <a:t>Useful AI is designed</a:t>
            </a:r>
          </a:p>
          <a:p xmlns:a="http://schemas.openxmlformats.org/drawingml/2006/main">
            <a:pPr algn="l">
              <a:defRPr sz="4350" b="1">
                <a:solidFill>
                  <a:srgbClr val="FFFFFF"/>
                </a:solidFill>
                <a:latin typeface="Arial"/>
                <a:ea typeface="Arial"/>
                <a:cs typeface="Arial"/>
              </a:defRPr>
            </a:pPr>
            <a:r>
              <a:rPr sz="4350" b="1">
                <a:solidFill>
                  <a:srgbClr val="FFFFFF"/>
                </a:solidFill>
                <a:latin typeface="Arial"/>
                <a:ea typeface="Arial"/>
                <a:cs typeface="Arial"/>
              </a:rPr>
              <a:t>around its limits.</a:t>
            </a:r>
          </a:p>
        </p:txBody>
      </p:sp>
      <p:sp>
        <p:nvSpPr>
          <p:cNvPr id="3" name="close-line-1">
            <a:extLst xmlns:a="http://schemas.openxmlformats.org/drawingml/2006/main">
              <a:ext uri="{FF2B5EF4-FFF2-40B4-BE49-F238E27FC236}">
                <a16:creationId xmlns:a16="http://schemas.microsoft.com/office/drawing/2014/main" id="{08E04FF9-2167-4E23-A4E9-A7BA8E38D9E5}"/>
              </a:ext>
            </a:extLst>
          </p:cNvPr>
          <p:cNvSpPr>
            <a:spLocks xmlns:a="http://schemas.openxmlformats.org/drawingml/2006/main" noGrp="1"/>
          </p:cNvSpPr>
          <p:nvPr/>
        </p:nvSpPr>
        <p:spPr>
          <a:xfrm xmlns:a="http://schemas.openxmlformats.org/drawingml/2006/main">
            <a:off x="685800" y="4238625"/>
            <a:ext cx="3143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00" b="1">
                <a:solidFill>
                  <a:srgbClr val="DDF3E7"/>
                </a:solidFill>
                <a:latin typeface="Arial"/>
                <a:ea typeface="Arial"/>
                <a:cs typeface="Arial"/>
              </a:defRPr>
            </a:pPr>
            <a:r>
              <a:rPr sz="1800" b="1">
                <a:solidFill>
                  <a:srgbClr val="DDF3E7"/>
                </a:solidFill>
                <a:latin typeface="Arial"/>
                <a:ea typeface="Arial"/>
                <a:cs typeface="Arial"/>
              </a:rPr>
              <a:t>Predictable by design</a:t>
            </a:r>
          </a:p>
        </p:txBody>
      </p:sp>
      <p:sp>
        <p:nvSpPr>
          <p:cNvPr id="4" name="close-line-2">
            <a:extLst xmlns:a="http://schemas.openxmlformats.org/drawingml/2006/main">
              <a:ext uri="{FF2B5EF4-FFF2-40B4-BE49-F238E27FC236}">
                <a16:creationId xmlns:a16="http://schemas.microsoft.com/office/drawing/2014/main" id="{3435B2D8-DF4D-42A2-8C88-7CF9348C2A29}"/>
              </a:ext>
            </a:extLst>
          </p:cNvPr>
          <p:cNvSpPr>
            <a:spLocks xmlns:a="http://schemas.openxmlformats.org/drawingml/2006/main" noGrp="1"/>
          </p:cNvSpPr>
          <p:nvPr/>
        </p:nvSpPr>
        <p:spPr>
          <a:xfrm xmlns:a="http://schemas.openxmlformats.org/drawingml/2006/main">
            <a:off x="4495800" y="4238625"/>
            <a:ext cx="3143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00" b="1">
                <a:solidFill>
                  <a:srgbClr val="D7C2E3"/>
                </a:solidFill>
                <a:latin typeface="Arial"/>
                <a:ea typeface="Arial"/>
                <a:cs typeface="Arial"/>
              </a:defRPr>
            </a:pPr>
            <a:r>
              <a:rPr sz="1800" b="1">
                <a:solidFill>
                  <a:srgbClr val="D7C2E3"/>
                </a:solidFill>
                <a:latin typeface="Arial"/>
                <a:ea typeface="Arial"/>
                <a:cs typeface="Arial"/>
              </a:rPr>
              <a:t>Grounded in evidence</a:t>
            </a:r>
          </a:p>
        </p:txBody>
      </p:sp>
      <p:sp>
        <p:nvSpPr>
          <p:cNvPr id="5" name="close-line-3">
            <a:extLst xmlns:a="http://schemas.openxmlformats.org/drawingml/2006/main">
              <a:ext uri="{FF2B5EF4-FFF2-40B4-BE49-F238E27FC236}">
                <a16:creationId xmlns:a16="http://schemas.microsoft.com/office/drawing/2014/main" id="{649CC4F2-B91E-4C67-BDF5-E2B2C38C9952}"/>
              </a:ext>
            </a:extLst>
          </p:cNvPr>
          <p:cNvSpPr>
            <a:spLocks xmlns:a="http://schemas.openxmlformats.org/drawingml/2006/main" noGrp="1"/>
          </p:cNvSpPr>
          <p:nvPr/>
        </p:nvSpPr>
        <p:spPr>
          <a:xfrm xmlns:a="http://schemas.openxmlformats.org/drawingml/2006/main">
            <a:off x="8305800" y="4238625"/>
            <a:ext cx="3238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00" b="1">
                <a:solidFill>
                  <a:srgbClr val="E98777"/>
                </a:solidFill>
                <a:latin typeface="Arial"/>
                <a:ea typeface="Arial"/>
                <a:cs typeface="Arial"/>
              </a:defRPr>
            </a:pPr>
            <a:r>
              <a:rPr sz="1800" b="1">
                <a:solidFill>
                  <a:srgbClr val="E98777"/>
                </a:solidFill>
                <a:latin typeface="Arial"/>
                <a:ea typeface="Arial"/>
                <a:cs typeface="Arial"/>
              </a:rPr>
              <a:t>Honest about limitations</a:t>
            </a:r>
          </a:p>
        </p:txBody>
      </p:sp>
      <p:sp>
        <p:nvSpPr>
          <p:cNvPr id="6" name="close-footer">
            <a:extLst xmlns:a="http://schemas.openxmlformats.org/drawingml/2006/main">
              <a:ext uri="{FF2B5EF4-FFF2-40B4-BE49-F238E27FC236}">
                <a16:creationId xmlns:a16="http://schemas.microsoft.com/office/drawing/2014/main" id="{92B24173-AC1C-4D6A-A001-2773C4A72C1F}"/>
              </a:ext>
            </a:extLst>
          </p:cNvPr>
          <p:cNvSpPr>
            <a:spLocks xmlns:a="http://schemas.openxmlformats.org/drawingml/2006/main" noGrp="1"/>
          </p:cNvSpPr>
          <p:nvPr/>
        </p:nvSpPr>
        <p:spPr>
          <a:xfrm xmlns:a="http://schemas.openxmlformats.org/drawingml/2006/main">
            <a:off x="628650" y="5962650"/>
            <a:ext cx="6858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75" b="0">
                <a:solidFill>
                  <a:srgbClr val="D7C2E3"/>
                </a:solidFill>
                <a:latin typeface="Arial"/>
                <a:ea typeface="Arial"/>
                <a:cs typeface="Arial"/>
              </a:defRPr>
            </a:pPr>
            <a:r>
              <a:rPr sz="1275" b="0">
                <a:solidFill>
                  <a:srgbClr val="D7C2E3"/>
                </a:solidFill>
                <a:latin typeface="Arial"/>
                <a:ea typeface="Arial"/>
                <a:cs typeface="Arial"/>
              </a:rPr>
              <a:t>github.com/hemalekamohanram/codepath-applied-ai-system-project</a:t>
            </a:r>
          </a:p>
        </p:txBody>
      </p:sp>
    </p:spTree>
    <p:extLst>
      <p:ext uri="{BB962C8B-B14F-4D97-AF65-F5344CB8AC3E}">
        <p14:creationId xmlns:p14="http://schemas.microsoft.com/office/powerpoint/2010/main" val="180916816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2026-08-05T00:12:07.5400000Z</dcterms:created>
  <dcterms:modified xsi:type="dcterms:W3CDTF">2026-08-05T00:12:07.5410000Z</dcterms:modified>
</coreProperties>
</file>